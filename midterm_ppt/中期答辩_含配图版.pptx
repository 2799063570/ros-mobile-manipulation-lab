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notesSlides/notesSlide1.xml" Type="http://schemas.openxmlformats.org/officeDocument/2006/relationships/notesSlide"/><Relationship Id="rId23" Target="notesSlides/notesSlide2.xml" Type="http://schemas.openxmlformats.org/officeDocument/2006/relationships/notesSlide"/><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presProps.xml" Type="http://schemas.openxmlformats.org/officeDocument/2006/relationships/presProps"/><Relationship Id="rId30" Target="notesSlides/notesSlide9.xml" Type="http://schemas.openxmlformats.org/officeDocument/2006/relationships/notesSlide"/><Relationship Id="rId31" Target="notesSlides/notesSlide10.xml" Type="http://schemas.openxmlformats.org/officeDocument/2006/relationships/notesSlide"/><Relationship Id="rId32" Target="notesSlides/notesSlide11.xml" Type="http://schemas.openxmlformats.org/officeDocument/2006/relationships/notesSlide"/><Relationship Id="rId33" Target="notesSlides/notesSlide12.xml" Type="http://schemas.openxmlformats.org/officeDocument/2006/relationships/notesSlide"/><Relationship Id="rId34" Target="notesSlides/notesSlide13.xml" Type="http://schemas.openxmlformats.org/officeDocument/2006/relationships/notesSlide"/><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老师好，我是XXX，指导教师是XXX教授。今天汇报的题目是《基于深度学习和改进路径规划的机械臂分拣系统研究》。汇报将从研究背景、已完成工作、阶段性实验结果、存在问题及后续工作计划几个方面展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本次汇报分为五个部分：首先回顾研究背景与意义，其次介绍研究目标与技术路线，重点汇报已完成的视觉识别与路径规划工作，随后展示阶段性实验结果，最后分析当前存在的问题并给出后续工作计划。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首先介绍研究背景。左图为工业机械臂智能分拣场景。制造业智能化转型对柔性分拣提出迫切需求，而传统人工与示教式机械臂在非结构化场景下适应性不足。深度学习与智能路径规划的发展，为解决这一矛盾提供了新的技术路径，这正是本课题的出发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课题的总体目标是构建一套视觉感知与运动规划融合的智能分拣系统。围绕这一目标分解为三项研究内容：一是基于深度学习的目标识别与位姿估计，二是改进的机械臂路径规划算法，三是系统集成与实验验证。三者构成从感知到决策再到执行的完整链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是系统总体技术路线。整个系统按感知—决策—执行三级闭环运行：首先通过RGB-D相机采集数据并构建数据集；随后由深度学习模型完成目标检测与6D位姿估计，输出抓取位姿；接着由改进路径规划算法生成无碰撞最优轨迹；最后驱动机械臂完成抓取与放置。视觉与规划两条主线在分拣任务层协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是课题整体进度。开题阶段的文献调研、开题报告和方案论证已完成；当前处于中期阶段，视觉模型与改进路径规划算法的主体工作已经完成，正在进行仿真实验与优化；后续将开展系统集成、实物验证和论文撰写。整体进度约完成百分之六十，符合预期计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一部分已完成工作是视觉识别。我们构建了分拣工件数据集并完成标注；以YOLO系列为基线，引入注意力机制与多尺度特征融合改进检测网络；在检测基础上估计6D位姿并求解抓取位姿。右侧表格为初步训练结果对比，正式答辩前将替换为真实数据，并补充检测与位姿估计的可视化效果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二部分是改进路径规划算法。我们以RRT*为基线，针对其收敛慢、路径冗余、代价单一三个问题，从目标偏置混合采样、综合代价函数、路径剪枝与B样条平滑三方面进行改进。改进后算法在保证概率完备的同时，提升了规划速度与轨迹质量，下一页将给出与基线算法的对比实验结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在ROS+Gazebo仿真平台上搭建了含障碍的分拣工位，对比RRT*与改进算法。从规划时间、路径长度、转折数和成功率四个指标进行评价，每组重复20次取均值。初步结果表明，改进算法在各项指标上均优于基线。正式答辩前将填入真实数据，并补充路径规划轨迹对比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客观汇报当前工作的不足。左侧是已经初步验证的部分，右侧是下一阶段需要重点解决的问题：一是复杂场景下视觉鲁棒性，二是动态重规划实时性，三是实物平台闭环验证，四是多工件连续分拣调度。这些问题将在后续工作中逐一解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后续工作计划按四个阶段安排：9到11月优化视觉模型鲁棒性；10到12月研究动态障碍下的在线重规划；12月到次年2月进行系统集成与实物验证；1月到4月撰写学位论文并准备答辩。近期重点是视觉模型优化和动态重规划，为年底实物集成做准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预期成果包括学位论文、完整的分拣系统、学术论文以及软著专利。主要创新点有三：一是视觉与规划的协同优化，二是改进的采样式路径规划算法，三是在真实机械臂平台上完成闭环验证。后续将围绕这些目标继续推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以上就是我的中期汇报内容。感谢导师和实验室同学在课题开展过程中的指导与帮助，恳请各位老师批评指正，谢谢！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3.xml" Type="http://schemas.openxmlformats.org/officeDocument/2006/relationships/notesSlide"/><Relationship Id="rId3"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3E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76200"/>
          </a:xfrm>
          <a:prstGeom prst="roundRect">
            <a:avLst>
              <a:gd name="adj" fmla="val 0"/>
            </a:avLst>
          </a:prstGeom>
          <a:solidFill>
            <a:srgbClr val="002FA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77" b="77"/>
          <a:stretch>
            <a:fillRect/>
          </a:stretch>
        </p:blipFill>
        <p:spPr>
          <a:xfrm rot="0" flipH="false" flipV="false">
            <a:off x="6858000" y="1905000"/>
            <a:ext cx="4318000" cy="2425700"/>
          </a:xfrm>
          <a:prstGeom prst="rect">
            <a:avLst/>
          </a:prstGeom>
          <a:noFill/>
          <a:ln w="25400" cmpd="sng" cap="flat">
            <a:noFill/>
            <a:prstDash val="solid"/>
            <a:round/>
          </a:ln>
        </p:spPr>
      </p:pic>
      <p:sp>
        <p:nvSpPr>
          <p:cNvPr name="AutoShape 4" id="4"/>
          <p:cNvSpPr/>
          <p:nvPr/>
        </p:nvSpPr>
        <p:spPr>
          <a:xfrm rot="0" flipH="false" flipV="false">
            <a:off x="1016000" y="1905000"/>
            <a:ext cx="38100" cy="2540000"/>
          </a:xfrm>
          <a:prstGeom prst="roundRect">
            <a:avLst>
              <a:gd name="adj" fmla="val 0"/>
            </a:avLst>
          </a:prstGeom>
          <a:solidFill>
            <a:srgbClr val="002FA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270000" y="1905000"/>
            <a:ext cx="5334000" cy="158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3200">
                <a:solidFill>
                  <a:srgbClr val="111111"/>
                </a:solidFill>
                <a:latin typeface="Noto Serif SC"/>
                <a:ea typeface="Noto Serif SC"/>
                <a:cs typeface="Noto Serif SC"/>
                <a:sym typeface="Noto Serif SC"/>
              </a:rPr>
              <a:t>基于深度学习和改进路径规划的</a:t>
            </a:r>
            <a:endParaRPr lang="en-US" sz="1100"/>
          </a:p>
          <a:p>
            <a:pPr algn="l" marL="0" indent="0">
              <a:lnSpc>
                <a:spcPct val="112500"/>
              </a:lnSpc>
            </a:pPr>
            <a:r>
              <a:rPr lang="en-US" b="true" i="false" strike="noStrike" u="none" sz="3200">
                <a:solidFill>
                  <a:srgbClr val="111111"/>
                </a:solidFill>
                <a:latin typeface="Noto Serif SC"/>
                <a:ea typeface="Noto Serif SC"/>
                <a:cs typeface="Noto Serif SC"/>
                <a:sym typeface="Noto Serif SC"/>
              </a:rPr>
              <a:t>机械臂分拣系统研究</a:t>
            </a:r>
          </a:p>
        </p:txBody>
      </p:sp>
      <p:sp>
        <p:nvSpPr>
          <p:cNvPr name="AutoShape 6" id="6"/>
          <p:cNvSpPr/>
          <p:nvPr/>
        </p:nvSpPr>
        <p:spPr>
          <a:xfrm rot="0" flipH="false" flipV="false">
            <a:off x="1270000" y="3530600"/>
            <a:ext cx="533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002FA7"/>
                </a:solidFill>
                <a:latin typeface="Noto Serif SC"/>
                <a:ea typeface="Noto Serif SC"/>
                <a:cs typeface="Noto Serif SC"/>
                <a:sym typeface="Noto Serif SC"/>
              </a:rPr>
              <a:t>硕士学位论文中期答辩</a:t>
            </a:r>
            <a:endParaRPr lang="en-US" sz="1100"/>
          </a:p>
        </p:txBody>
      </p:sp>
      <p:cxnSp>
        <p:nvCxnSpPr>
          <p:cNvPr name="Connector 7" id="7"/>
          <p:cNvCxnSpPr/>
          <p:nvPr/>
        </p:nvCxnSpPr>
        <p:spPr>
          <a:xfrm rot="-13222" flipH="false" flipV="false">
            <a:off x="1270012" y="4133850"/>
            <a:ext cx="3302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8" id="8"/>
          <p:cNvSpPr/>
          <p:nvPr/>
        </p:nvSpPr>
        <p:spPr>
          <a:xfrm rot="0" flipH="false" flipV="false">
            <a:off x="1270000" y="4343400"/>
            <a:ext cx="5334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41666"/>
              </a:lnSpc>
              <a:defRPr/>
            </a:pPr>
            <a:r>
              <a:rPr lang="en-US" b="false" i="false" strike="noStrike" u="none" sz="1300">
                <a:solidFill>
                  <a:srgbClr val="383838"/>
                </a:solidFill>
                <a:latin typeface="Noto Serif SC"/>
                <a:ea typeface="Noto Serif SC"/>
                <a:cs typeface="Noto Serif SC"/>
                <a:sym typeface="Noto Serif SC"/>
              </a:rPr>
              <a:t>答 辩 人：XXX　　指导教师：XXX 教授</a:t>
            </a:r>
            <a:endParaRPr lang="en-US" sz="1100"/>
          </a:p>
          <a:p>
            <a:pPr algn="l" marL="0" indent="0">
              <a:lnSpc>
                <a:spcPct val="141666"/>
              </a:lnSpc>
            </a:pPr>
            <a:r>
              <a:rPr lang="en-US" b="false" i="false" strike="noStrike" u="none" sz="1300">
                <a:solidFill>
                  <a:srgbClr val="383838"/>
                </a:solidFill>
                <a:latin typeface="Noto Serif SC"/>
                <a:ea typeface="Noto Serif SC"/>
                <a:cs typeface="Noto Serif SC"/>
                <a:sym typeface="Noto Serif SC"/>
              </a:rPr>
              <a:t>学　　院：XXX学院　　学科专业：控制科学与工程</a:t>
            </a:r>
          </a:p>
          <a:p>
            <a:pPr algn="l" marL="0" indent="0">
              <a:lnSpc>
                <a:spcPct val="141666"/>
              </a:lnSpc>
            </a:pPr>
            <a:r>
              <a:rPr lang="en-US" b="false" i="false" strike="noStrike" u="none" sz="1300">
                <a:solidFill>
                  <a:srgbClr val="383838"/>
                </a:solidFill>
                <a:latin typeface="Noto Serif SC"/>
                <a:ea typeface="Noto Serif SC"/>
                <a:cs typeface="Noto Serif SC"/>
                <a:sym typeface="Noto Serif SC"/>
              </a:rPr>
              <a:t>答辩日期：2026 年 9 月</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5F3E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11200"/>
            <a:ext cx="5080000" cy="584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111111"/>
                </a:solidFill>
                <a:latin typeface="Noto Serif SC"/>
                <a:ea typeface="Noto Serif SC"/>
                <a:cs typeface="Noto Serif SC"/>
                <a:sym typeface="Noto Serif SC"/>
              </a:rPr>
              <a:t>目　录</a:t>
            </a:r>
            <a:endParaRPr lang="en-US" sz="1100"/>
          </a:p>
        </p:txBody>
      </p:sp>
      <p:sp>
        <p:nvSpPr>
          <p:cNvPr name="AutoShape 3" id="3"/>
          <p:cNvSpPr/>
          <p:nvPr/>
        </p:nvSpPr>
        <p:spPr>
          <a:xfrm rot="0" flipH="false" flipV="false">
            <a:off x="1041400" y="1295400"/>
            <a:ext cx="508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002FA7"/>
                </a:solidFill>
                <a:latin typeface="Noto Serif SC"/>
                <a:ea typeface="Noto Serif SC"/>
                <a:cs typeface="Noto Serif SC"/>
                <a:sym typeface="Noto Serif SC"/>
              </a:rPr>
              <a:t>CONTENTS</a:t>
            </a:r>
            <a:endParaRPr lang="en-US" sz="1100"/>
          </a:p>
        </p:txBody>
      </p:sp>
      <p:cxnSp>
        <p:nvCxnSpPr>
          <p:cNvPr name="Connector 4" id="4"/>
          <p:cNvCxnSpPr/>
          <p:nvPr/>
        </p:nvCxnSpPr>
        <p:spPr>
          <a:xfrm rot="-4297" flipH="false" flipV="false">
            <a:off x="1016004" y="1695450"/>
            <a:ext cx="10160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5" id="5"/>
          <p:cNvSpPr/>
          <p:nvPr/>
        </p:nvSpPr>
        <p:spPr>
          <a:xfrm rot="0" flipH="false" flipV="false">
            <a:off x="1016000" y="2006600"/>
            <a:ext cx="762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002FA7"/>
                </a:solidFill>
                <a:latin typeface="Noto Serif SC"/>
                <a:ea typeface="Noto Serif SC"/>
                <a:cs typeface="Noto Serif SC"/>
                <a:sym typeface="Noto Serif SC"/>
              </a:rPr>
              <a:t>01</a:t>
            </a:r>
            <a:endParaRPr lang="en-US" sz="1100"/>
          </a:p>
        </p:txBody>
      </p:sp>
      <p:sp>
        <p:nvSpPr>
          <p:cNvPr name="AutoShape 6" id="6"/>
          <p:cNvSpPr/>
          <p:nvPr/>
        </p:nvSpPr>
        <p:spPr>
          <a:xfrm rot="0" flipH="false" flipV="false">
            <a:off x="1905000" y="2006600"/>
            <a:ext cx="5080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900">
                <a:solidFill>
                  <a:srgbClr val="111111"/>
                </a:solidFill>
                <a:latin typeface="Noto Serif SC"/>
                <a:ea typeface="Noto Serif SC"/>
                <a:cs typeface="Noto Serif SC"/>
                <a:sym typeface="Noto Serif SC"/>
              </a:rPr>
              <a:t>研究背景与意义</a:t>
            </a:r>
            <a:endParaRPr lang="en-US" sz="1100"/>
          </a:p>
        </p:txBody>
      </p:sp>
      <p:sp>
        <p:nvSpPr>
          <p:cNvPr name="AutoShape 7" id="7"/>
          <p:cNvSpPr/>
          <p:nvPr/>
        </p:nvSpPr>
        <p:spPr>
          <a:xfrm rot="0" flipH="false" flipV="false">
            <a:off x="1905000" y="2387600"/>
            <a:ext cx="762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787878"/>
                </a:solidFill>
                <a:latin typeface="Noto Serif SC"/>
                <a:ea typeface="Noto Serif SC"/>
                <a:cs typeface="Noto Serif SC"/>
                <a:sym typeface="Noto Serif SC"/>
              </a:rPr>
              <a:t>行业需求、技术现状与研究缺口</a:t>
            </a:r>
            <a:endParaRPr lang="en-US" sz="1100"/>
          </a:p>
        </p:txBody>
      </p:sp>
      <p:cxnSp>
        <p:nvCxnSpPr>
          <p:cNvPr name="Connector 8" id="8"/>
          <p:cNvCxnSpPr/>
          <p:nvPr/>
        </p:nvCxnSpPr>
        <p:spPr>
          <a:xfrm rot="-4297" flipH="false" flipV="false">
            <a:off x="1016004" y="28130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9" id="9"/>
          <p:cNvSpPr/>
          <p:nvPr/>
        </p:nvSpPr>
        <p:spPr>
          <a:xfrm rot="0" flipH="false" flipV="false">
            <a:off x="1016000" y="2997200"/>
            <a:ext cx="762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002FA7"/>
                </a:solidFill>
                <a:latin typeface="Noto Serif SC"/>
                <a:ea typeface="Noto Serif SC"/>
                <a:cs typeface="Noto Serif SC"/>
                <a:sym typeface="Noto Serif SC"/>
              </a:rPr>
              <a:t>02</a:t>
            </a:r>
            <a:endParaRPr lang="en-US" sz="1100"/>
          </a:p>
        </p:txBody>
      </p:sp>
      <p:sp>
        <p:nvSpPr>
          <p:cNvPr name="AutoShape 10" id="10"/>
          <p:cNvSpPr/>
          <p:nvPr/>
        </p:nvSpPr>
        <p:spPr>
          <a:xfrm rot="0" flipH="false" flipV="false">
            <a:off x="1905000" y="2997200"/>
            <a:ext cx="5080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900">
                <a:solidFill>
                  <a:srgbClr val="111111"/>
                </a:solidFill>
                <a:latin typeface="Noto Serif SC"/>
                <a:ea typeface="Noto Serif SC"/>
                <a:cs typeface="Noto Serif SC"/>
                <a:sym typeface="Noto Serif SC"/>
              </a:rPr>
              <a:t>研究目标与技术路线</a:t>
            </a:r>
            <a:endParaRPr lang="en-US" sz="1100"/>
          </a:p>
        </p:txBody>
      </p:sp>
      <p:sp>
        <p:nvSpPr>
          <p:cNvPr name="AutoShape 11" id="11"/>
          <p:cNvSpPr/>
          <p:nvPr/>
        </p:nvSpPr>
        <p:spPr>
          <a:xfrm rot="0" flipH="false" flipV="false">
            <a:off x="1905000" y="3378200"/>
            <a:ext cx="762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787878"/>
                </a:solidFill>
                <a:latin typeface="Noto Serif SC"/>
                <a:ea typeface="Noto Serif SC"/>
                <a:cs typeface="Noto Serif SC"/>
                <a:sym typeface="Noto Serif SC"/>
              </a:rPr>
              <a:t>研究内容分解与系统总体方案</a:t>
            </a:r>
            <a:endParaRPr lang="en-US" sz="1100"/>
          </a:p>
        </p:txBody>
      </p:sp>
      <p:cxnSp>
        <p:nvCxnSpPr>
          <p:cNvPr name="Connector 12" id="12"/>
          <p:cNvCxnSpPr/>
          <p:nvPr/>
        </p:nvCxnSpPr>
        <p:spPr>
          <a:xfrm rot="-4297" flipH="false" flipV="false">
            <a:off x="1016004" y="3803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13" id="13"/>
          <p:cNvSpPr/>
          <p:nvPr/>
        </p:nvSpPr>
        <p:spPr>
          <a:xfrm rot="0" flipH="false" flipV="false">
            <a:off x="1016000" y="3987800"/>
            <a:ext cx="762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002FA7"/>
                </a:solidFill>
                <a:latin typeface="Noto Serif SC"/>
                <a:ea typeface="Noto Serif SC"/>
                <a:cs typeface="Noto Serif SC"/>
                <a:sym typeface="Noto Serif SC"/>
              </a:rPr>
              <a:t>03</a:t>
            </a:r>
            <a:endParaRPr lang="en-US" sz="1100"/>
          </a:p>
        </p:txBody>
      </p:sp>
      <p:sp>
        <p:nvSpPr>
          <p:cNvPr name="AutoShape 14" id="14"/>
          <p:cNvSpPr/>
          <p:nvPr/>
        </p:nvSpPr>
        <p:spPr>
          <a:xfrm rot="0" flipH="false" flipV="false">
            <a:off x="1905000" y="3987800"/>
            <a:ext cx="6350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900">
                <a:solidFill>
                  <a:srgbClr val="111111"/>
                </a:solidFill>
                <a:latin typeface="Noto Serif SC"/>
                <a:ea typeface="Noto Serif SC"/>
                <a:cs typeface="Noto Serif SC"/>
                <a:sym typeface="Noto Serif SC"/>
              </a:rPr>
              <a:t>已完成的研究工作</a:t>
            </a:r>
            <a:endParaRPr lang="en-US" sz="1100"/>
          </a:p>
        </p:txBody>
      </p:sp>
      <p:sp>
        <p:nvSpPr>
          <p:cNvPr name="AutoShape 15" id="15"/>
          <p:cNvSpPr/>
          <p:nvPr/>
        </p:nvSpPr>
        <p:spPr>
          <a:xfrm rot="0" flipH="false" flipV="false">
            <a:off x="1905000" y="4368800"/>
            <a:ext cx="762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787878"/>
                </a:solidFill>
                <a:latin typeface="Noto Serif SC"/>
                <a:ea typeface="Noto Serif SC"/>
                <a:cs typeface="Noto Serif SC"/>
                <a:sym typeface="Noto Serif SC"/>
              </a:rPr>
              <a:t>视觉识别模型、改进路径规划算法</a:t>
            </a:r>
            <a:endParaRPr lang="en-US" sz="1100"/>
          </a:p>
        </p:txBody>
      </p:sp>
      <p:cxnSp>
        <p:nvCxnSpPr>
          <p:cNvPr name="Connector 16" id="16"/>
          <p:cNvCxnSpPr/>
          <p:nvPr/>
        </p:nvCxnSpPr>
        <p:spPr>
          <a:xfrm rot="-4297" flipH="false" flipV="false">
            <a:off x="1016004" y="47942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17" id="17"/>
          <p:cNvSpPr/>
          <p:nvPr/>
        </p:nvSpPr>
        <p:spPr>
          <a:xfrm rot="0" flipH="false" flipV="false">
            <a:off x="1016000" y="4978400"/>
            <a:ext cx="762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002FA7"/>
                </a:solidFill>
                <a:latin typeface="Noto Serif SC"/>
                <a:ea typeface="Noto Serif SC"/>
                <a:cs typeface="Noto Serif SC"/>
                <a:sym typeface="Noto Serif SC"/>
              </a:rPr>
              <a:t>04</a:t>
            </a:r>
            <a:endParaRPr lang="en-US" sz="1100"/>
          </a:p>
        </p:txBody>
      </p:sp>
      <p:sp>
        <p:nvSpPr>
          <p:cNvPr name="AutoShape 18" id="18"/>
          <p:cNvSpPr/>
          <p:nvPr/>
        </p:nvSpPr>
        <p:spPr>
          <a:xfrm rot="0" flipH="false" flipV="false">
            <a:off x="1905000" y="4978400"/>
            <a:ext cx="6350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900">
                <a:solidFill>
                  <a:srgbClr val="111111"/>
                </a:solidFill>
                <a:latin typeface="Noto Serif SC"/>
                <a:ea typeface="Noto Serif SC"/>
                <a:cs typeface="Noto Serif SC"/>
                <a:sym typeface="Noto Serif SC"/>
              </a:rPr>
              <a:t>阶段性实验与结果分析</a:t>
            </a:r>
            <a:endParaRPr lang="en-US" sz="1100"/>
          </a:p>
        </p:txBody>
      </p:sp>
      <p:sp>
        <p:nvSpPr>
          <p:cNvPr name="AutoShape 19" id="19"/>
          <p:cNvSpPr/>
          <p:nvPr/>
        </p:nvSpPr>
        <p:spPr>
          <a:xfrm rot="0" flipH="false" flipV="false">
            <a:off x="1905000" y="5359400"/>
            <a:ext cx="762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787878"/>
                </a:solidFill>
                <a:latin typeface="Noto Serif SC"/>
                <a:ea typeface="Noto Serif SC"/>
                <a:cs typeface="Noto Serif SC"/>
                <a:sym typeface="Noto Serif SC"/>
              </a:rPr>
              <a:t>仿真平台搭建与关键指标对比</a:t>
            </a:r>
            <a:endParaRPr lang="en-US" sz="1100"/>
          </a:p>
        </p:txBody>
      </p:sp>
      <p:cxnSp>
        <p:nvCxnSpPr>
          <p:cNvPr name="Connector 20" id="20"/>
          <p:cNvCxnSpPr/>
          <p:nvPr/>
        </p:nvCxnSpPr>
        <p:spPr>
          <a:xfrm rot="-4297" flipH="false" flipV="false">
            <a:off x="1016004" y="57848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21" id="21"/>
          <p:cNvSpPr/>
          <p:nvPr/>
        </p:nvSpPr>
        <p:spPr>
          <a:xfrm rot="0" flipH="false" flipV="false">
            <a:off x="1016000" y="5969000"/>
            <a:ext cx="762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002FA7"/>
                </a:solidFill>
                <a:latin typeface="Noto Serif SC"/>
                <a:ea typeface="Noto Serif SC"/>
                <a:cs typeface="Noto Serif SC"/>
                <a:sym typeface="Noto Serif SC"/>
              </a:rPr>
              <a:t>05</a:t>
            </a:r>
            <a:endParaRPr lang="en-US" sz="1100"/>
          </a:p>
        </p:txBody>
      </p:sp>
      <p:sp>
        <p:nvSpPr>
          <p:cNvPr name="AutoShape 22" id="22"/>
          <p:cNvSpPr/>
          <p:nvPr/>
        </p:nvSpPr>
        <p:spPr>
          <a:xfrm rot="0" flipH="false" flipV="false">
            <a:off x="1905000" y="5969000"/>
            <a:ext cx="6350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900">
                <a:solidFill>
                  <a:srgbClr val="111111"/>
                </a:solidFill>
                <a:latin typeface="Noto Serif SC"/>
                <a:ea typeface="Noto Serif SC"/>
                <a:cs typeface="Noto Serif SC"/>
                <a:sym typeface="Noto Serif SC"/>
              </a:rPr>
              <a:t>问题分析与后续计划</a:t>
            </a:r>
            <a:endParaRPr lang="en-US" sz="1100"/>
          </a:p>
        </p:txBody>
      </p:sp>
      <p:sp>
        <p:nvSpPr>
          <p:cNvPr name="AutoShape 23" id="23"/>
          <p:cNvSpPr/>
          <p:nvPr/>
        </p:nvSpPr>
        <p:spPr>
          <a:xfrm rot="0" flipH="false" flipV="false">
            <a:off x="1905000" y="6350000"/>
            <a:ext cx="762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787878"/>
                </a:solidFill>
                <a:latin typeface="Noto Serif SC"/>
                <a:ea typeface="Noto Serif SC"/>
                <a:cs typeface="Noto Serif SC"/>
                <a:sym typeface="Noto Serif SC"/>
              </a:rPr>
              <a:t>当前不足、时间安排与预期成果</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3EE">
            <a:alpha val="100000"/>
          </a:srgbClr>
        </a:solidFill>
      </p:bgPr>
    </p:bg>
    <p:spTree>
      <p:nvGrpSpPr>
        <p:cNvPr id="1" name=""/>
        <p:cNvGrpSpPr/>
        <p:nvPr/>
      </p:nvGrpSpPr>
      <p:grpSpPr>
        <a:xfrm>
          <a:off x="0" y="0"/>
          <a:ext cx="0" cy="0"/>
          <a:chOff x="0" y="0"/>
          <a:chExt cx="0" cy="0"/>
        </a:xfrm>
      </p:grpSpPr>
      <p:cxnSp>
        <p:nvCxnSpPr>
          <p:cNvPr name="Connector 2" id="2"/>
          <p:cNvCxnSpPr/>
          <p:nvPr/>
        </p:nvCxnSpPr>
        <p:spPr>
          <a:xfrm rot="-4297" flipH="false" flipV="false">
            <a:off x="1016004" y="552450"/>
            <a:ext cx="10160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3" id="3"/>
          <p:cNvSpPr/>
          <p:nvPr/>
        </p:nvSpPr>
        <p:spPr>
          <a:xfrm rot="0" flipH="false" flipV="false">
            <a:off x="1016000" y="330200"/>
            <a:ext cx="508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787878"/>
                </a:solidFill>
                <a:latin typeface="Noto Serif SC"/>
                <a:ea typeface="Noto Serif SC"/>
                <a:cs typeface="Noto Serif SC"/>
                <a:sym typeface="Noto Serif SC"/>
              </a:rPr>
              <a:t>01　研究背景与意义</a:t>
            </a:r>
            <a:endParaRPr lang="en-US" sz="1100"/>
          </a:p>
        </p:txBody>
      </p:sp>
      <p:sp>
        <p:nvSpPr>
          <p:cNvPr name="AutoShape 4" id="4"/>
          <p:cNvSpPr/>
          <p:nvPr/>
        </p:nvSpPr>
        <p:spPr>
          <a:xfrm rot="0" flipH="false" flipV="false">
            <a:off x="1016000" y="762000"/>
            <a:ext cx="965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111111"/>
                </a:solidFill>
                <a:latin typeface="Noto Serif SC"/>
                <a:ea typeface="Noto Serif SC"/>
                <a:cs typeface="Noto Serif SC"/>
                <a:sym typeface="Noto Serif SC"/>
              </a:rPr>
              <a:t>研究背景与意义</a:t>
            </a:r>
            <a:endParaRPr lang="en-US" sz="1100"/>
          </a:p>
        </p:txBody>
      </p:sp>
      <p:cxnSp>
        <p:nvCxnSpPr>
          <p:cNvPr name="Connector 5" id="5"/>
          <p:cNvCxnSpPr/>
          <p:nvPr/>
        </p:nvCxnSpPr>
        <p:spPr>
          <a:xfrm rot="-57290" flipH="false" flipV="false">
            <a:off x="1016053" y="1466850"/>
            <a:ext cx="7620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none" w="lg" len="lg"/>
          </a:ln>
        </p:spPr>
      </p:cxnSp>
      <p:pic>
        <p:nvPicPr>
          <p:cNvPr name="Picture 6" id="6"/>
          <p:cNvPicPr>
            <a:picLocks noChangeAspect="true"/>
          </p:cNvPicPr>
          <p:nvPr/>
        </p:nvPicPr>
        <p:blipFill>
          <a:blip r:embed="rId2"/>
          <a:srcRect l="46" r="46" t="0" b="0"/>
          <a:stretch>
            <a:fillRect/>
          </a:stretch>
        </p:blipFill>
        <p:spPr>
          <a:xfrm rot="0" flipH="false" flipV="false">
            <a:off x="6350000" y="1778000"/>
            <a:ext cx="4826000" cy="2717800"/>
          </a:xfrm>
          <a:prstGeom prst="rect">
            <a:avLst/>
          </a:prstGeom>
          <a:noFill/>
          <a:ln w="25400" cmpd="sng" cap="flat">
            <a:noFill/>
            <a:prstDash val="solid"/>
            <a:round/>
          </a:ln>
        </p:spPr>
      </p:pic>
      <p:sp>
        <p:nvSpPr>
          <p:cNvPr name="AutoShape 7" id="7"/>
          <p:cNvSpPr/>
          <p:nvPr/>
        </p:nvSpPr>
        <p:spPr>
          <a:xfrm rot="0" flipH="false" flipV="false">
            <a:off x="1016000" y="1778000"/>
            <a:ext cx="4826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2FA7"/>
                </a:solidFill>
                <a:latin typeface="Noto Serif SC"/>
                <a:ea typeface="Noto Serif SC"/>
                <a:cs typeface="Noto Serif SC"/>
                <a:sym typeface="Noto Serif SC"/>
              </a:rPr>
              <a:t>制造业智能化转型的必然要求</a:t>
            </a:r>
            <a:endParaRPr lang="en-US" sz="1100"/>
          </a:p>
        </p:txBody>
      </p:sp>
      <p:sp>
        <p:nvSpPr>
          <p:cNvPr name="AutoShape 8" id="8"/>
          <p:cNvSpPr/>
          <p:nvPr/>
        </p:nvSpPr>
        <p:spPr>
          <a:xfrm rot="0" flipH="false" flipV="false">
            <a:off x="1016000" y="2159000"/>
            <a:ext cx="4826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383838"/>
                </a:solidFill>
                <a:latin typeface="Noto Serif SC"/>
                <a:ea typeface="Noto Serif SC"/>
                <a:cs typeface="Noto Serif SC"/>
                <a:sym typeface="Noto Serif SC"/>
              </a:rPr>
              <a:t>"工业4.0""中国制造2025"推动制造业由自动化向柔性化、智能化升级。在物流仓储、电子装配、食品医药等环节，分拣是物料流转的核心，其效率与柔性直接决定整条产线的产能与成本。</a:t>
            </a:r>
            <a:endParaRPr lang="en-US" sz="1100"/>
          </a:p>
        </p:txBody>
      </p:sp>
      <p:sp>
        <p:nvSpPr>
          <p:cNvPr name="AutoShape 9" id="9"/>
          <p:cNvSpPr/>
          <p:nvPr/>
        </p:nvSpPr>
        <p:spPr>
          <a:xfrm rot="0" flipH="false" flipV="false">
            <a:off x="1016000" y="3530600"/>
            <a:ext cx="4826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2FA7"/>
                </a:solidFill>
                <a:latin typeface="Noto Serif SC"/>
                <a:ea typeface="Noto Serif SC"/>
                <a:cs typeface="Noto Serif SC"/>
                <a:sym typeface="Noto Serif SC"/>
              </a:rPr>
              <a:t>传统分拣方式难以适应柔性需求</a:t>
            </a:r>
            <a:endParaRPr lang="en-US" sz="1100"/>
          </a:p>
        </p:txBody>
      </p:sp>
      <p:sp>
        <p:nvSpPr>
          <p:cNvPr name="AutoShape 10" id="10"/>
          <p:cNvSpPr/>
          <p:nvPr/>
        </p:nvSpPr>
        <p:spPr>
          <a:xfrm rot="0" flipH="false" flipV="false">
            <a:off x="1016000" y="3911600"/>
            <a:ext cx="4826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383838"/>
                </a:solidFill>
                <a:latin typeface="Noto Serif SC"/>
                <a:ea typeface="Noto Serif SC"/>
                <a:cs typeface="Noto Serif SC"/>
                <a:sym typeface="Noto Serif SC"/>
              </a:rPr>
              <a:t>人工分拣劳动强度大、一致性差、人力成本上升；传统工业机械臂依赖固定示教编程，仅适应结构化环境，对目标位姿变化、杂乱堆叠及未知物体的适应能力不足。</a:t>
            </a:r>
            <a:endParaRPr lang="en-US" sz="1100"/>
          </a:p>
        </p:txBody>
      </p:sp>
      <p:sp>
        <p:nvSpPr>
          <p:cNvPr name="AutoShape 11" id="11"/>
          <p:cNvSpPr/>
          <p:nvPr/>
        </p:nvSpPr>
        <p:spPr>
          <a:xfrm rot="0" flipH="false" flipV="false">
            <a:off x="6350000" y="4648200"/>
            <a:ext cx="4826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02FA7"/>
                </a:solidFill>
                <a:latin typeface="Noto Serif SC"/>
                <a:ea typeface="Noto Serif SC"/>
                <a:cs typeface="Noto Serif SC"/>
                <a:sym typeface="Noto Serif SC"/>
              </a:rPr>
              <a:t>深度学习与智能规划带来新机遇</a:t>
            </a:r>
            <a:endParaRPr lang="en-US" sz="1100"/>
          </a:p>
        </p:txBody>
      </p:sp>
      <p:sp>
        <p:nvSpPr>
          <p:cNvPr name="AutoShape 12" id="12"/>
          <p:cNvSpPr/>
          <p:nvPr/>
        </p:nvSpPr>
        <p:spPr>
          <a:xfrm rot="0" flipH="false" flipV="false">
            <a:off x="6350000" y="4978400"/>
            <a:ext cx="4826000" cy="4318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100">
                <a:solidFill>
                  <a:srgbClr val="383838"/>
                </a:solidFill>
                <a:latin typeface="Noto Serif SC"/>
                <a:ea typeface="Noto Serif SC"/>
                <a:cs typeface="Noto Serif SC"/>
                <a:sym typeface="Noto Serif SC"/>
              </a:rPr>
              <a:t>深度学习赋予非结构化环境感知能力；改进规划算法保障轨迹实时最优。</a:t>
            </a:r>
            <a:endParaRPr lang="en-US" sz="1100"/>
          </a:p>
        </p:txBody>
      </p:sp>
      <p:sp>
        <p:nvSpPr>
          <p:cNvPr name="AutoShape 13" id="13"/>
          <p:cNvSpPr/>
          <p:nvPr/>
        </p:nvSpPr>
        <p:spPr>
          <a:xfrm rot="0" flipH="false" flipV="false">
            <a:off x="1016000" y="5562600"/>
            <a:ext cx="38100" cy="558800"/>
          </a:xfrm>
          <a:prstGeom prst="roundRect">
            <a:avLst>
              <a:gd name="adj" fmla="val 0"/>
            </a:avLst>
          </a:prstGeom>
          <a:solidFill>
            <a:srgbClr val="002FA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244600" y="5562600"/>
            <a:ext cx="99314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200">
                <a:solidFill>
                  <a:srgbClr val="002FA7"/>
                </a:solidFill>
                <a:latin typeface="Noto Serif SC"/>
                <a:ea typeface="Noto Serif SC"/>
                <a:cs typeface="Noto Serif SC"/>
                <a:sym typeface="Noto Serif SC"/>
              </a:rPr>
              <a:t>研究意义　</a:t>
            </a:r>
            <a:r>
              <a:rPr lang="en-US" b="false" i="false" strike="noStrike" u="none" sz="1200">
                <a:solidFill>
                  <a:srgbClr val="111111"/>
                </a:solidFill>
                <a:latin typeface="Noto Serif SC"/>
                <a:ea typeface="Noto Serif SC"/>
                <a:cs typeface="Noto Serif SC"/>
                <a:sym typeface="Noto Serif SC"/>
              </a:rPr>
              <a:t>融合深度学习视觉感知与改进路径规划，提升复杂分拣场景下的识别精度、抓取成功率与分拣效率。</a:t>
            </a:r>
            <a:endParaRPr lang="en-US" sz="1100"/>
          </a:p>
        </p:txBody>
      </p:sp>
      <p:cxnSp>
        <p:nvCxnSpPr>
          <p:cNvPr name="Connector 15" id="15"/>
          <p:cNvCxnSpPr/>
          <p:nvPr/>
        </p:nvCxnSpPr>
        <p:spPr>
          <a:xfrm rot="-4297" flipH="false" flipV="false">
            <a:off x="1016004" y="6216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16" id="16"/>
          <p:cNvSpPr/>
          <p:nvPr/>
        </p:nvSpPr>
        <p:spPr>
          <a:xfrm rot="0" flipH="false" flipV="false">
            <a:off x="1016000" y="6324600"/>
            <a:ext cx="635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900">
                <a:solidFill>
                  <a:srgbClr val="969696"/>
                </a:solidFill>
                <a:latin typeface="Noto Serif SC"/>
                <a:ea typeface="Noto Serif SC"/>
                <a:cs typeface="Noto Serif SC"/>
                <a:sym typeface="Noto Serif SC"/>
              </a:rPr>
              <a:t>基于深度学习和改进路径规划的机械臂分拣系统研究</a:t>
            </a:r>
            <a:endParaRPr lang="en-US" sz="1100"/>
          </a:p>
        </p:txBody>
      </p:sp>
      <p:sp>
        <p:nvSpPr>
          <p:cNvPr name="AutoShape 17" id="17"/>
          <p:cNvSpPr/>
          <p:nvPr/>
        </p:nvSpPr>
        <p:spPr>
          <a:xfrm rot="0" flipH="false" flipV="false">
            <a:off x="10160000" y="6324600"/>
            <a:ext cx="1016000" cy="2286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900">
                <a:solidFill>
                  <a:srgbClr val="969696"/>
                </a:solidFill>
                <a:latin typeface="Noto Serif SC"/>
                <a:ea typeface="Noto Serif SC"/>
                <a:cs typeface="Noto Serif SC"/>
                <a:sym typeface="Noto Serif SC"/>
              </a:rPr>
              <a:t>03</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5F3EE">
            <a:alpha val="100000"/>
          </a:srgbClr>
        </a:solidFill>
      </p:bgPr>
    </p:bg>
    <p:spTree>
      <p:nvGrpSpPr>
        <p:cNvPr id="1" name=""/>
        <p:cNvGrpSpPr/>
        <p:nvPr/>
      </p:nvGrpSpPr>
      <p:grpSpPr>
        <a:xfrm>
          <a:off x="0" y="0"/>
          <a:ext cx="0" cy="0"/>
          <a:chOff x="0" y="0"/>
          <a:chExt cx="0" cy="0"/>
        </a:xfrm>
      </p:grpSpPr>
      <p:cxnSp>
        <p:nvCxnSpPr>
          <p:cNvPr name="Connector 2" id="2"/>
          <p:cNvCxnSpPr/>
          <p:nvPr/>
        </p:nvCxnSpPr>
        <p:spPr>
          <a:xfrm rot="-4297" flipH="false" flipV="false">
            <a:off x="1016004" y="552450"/>
            <a:ext cx="10160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3" id="3"/>
          <p:cNvSpPr/>
          <p:nvPr/>
        </p:nvSpPr>
        <p:spPr>
          <a:xfrm rot="0" flipH="false" flipV="false">
            <a:off x="1016000" y="330200"/>
            <a:ext cx="508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787878"/>
                </a:solidFill>
                <a:latin typeface="Noto Serif SC"/>
                <a:ea typeface="Noto Serif SC"/>
                <a:cs typeface="Noto Serif SC"/>
                <a:sym typeface="Noto Serif SC"/>
              </a:rPr>
              <a:t>02　研究目标与技术路线</a:t>
            </a:r>
            <a:endParaRPr lang="en-US" sz="1100"/>
          </a:p>
        </p:txBody>
      </p:sp>
      <p:sp>
        <p:nvSpPr>
          <p:cNvPr name="AutoShape 4" id="4"/>
          <p:cNvSpPr/>
          <p:nvPr/>
        </p:nvSpPr>
        <p:spPr>
          <a:xfrm rot="0" flipH="false" flipV="false">
            <a:off x="1016000" y="762000"/>
            <a:ext cx="965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111111"/>
                </a:solidFill>
                <a:latin typeface="Noto Serif SC"/>
                <a:ea typeface="Noto Serif SC"/>
                <a:cs typeface="Noto Serif SC"/>
                <a:sym typeface="Noto Serif SC"/>
              </a:rPr>
              <a:t>研究目标与研究内容</a:t>
            </a:r>
            <a:endParaRPr lang="en-US" sz="1100"/>
          </a:p>
        </p:txBody>
      </p:sp>
      <p:cxnSp>
        <p:nvCxnSpPr>
          <p:cNvPr name="Connector 5" id="5"/>
          <p:cNvCxnSpPr/>
          <p:nvPr/>
        </p:nvCxnSpPr>
        <p:spPr>
          <a:xfrm rot="-57290" flipH="false" flipV="false">
            <a:off x="1016053" y="1466850"/>
            <a:ext cx="7620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none" w="lg" len="lg"/>
          </a:ln>
        </p:spPr>
      </p:cxnSp>
      <p:sp>
        <p:nvSpPr>
          <p:cNvPr name="AutoShape 6" id="6"/>
          <p:cNvSpPr/>
          <p:nvPr/>
        </p:nvSpPr>
        <p:spPr>
          <a:xfrm rot="0" flipH="false" flipV="false">
            <a:off x="1016000" y="1854200"/>
            <a:ext cx="3556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2FA7"/>
                </a:solidFill>
                <a:latin typeface="Noto Serif SC"/>
                <a:ea typeface="Noto Serif SC"/>
                <a:cs typeface="Noto Serif SC"/>
                <a:sym typeface="Noto Serif SC"/>
              </a:rPr>
              <a:t>总体研究目标</a:t>
            </a:r>
            <a:endParaRPr lang="en-US" sz="1100"/>
          </a:p>
        </p:txBody>
      </p:sp>
      <p:sp>
        <p:nvSpPr>
          <p:cNvPr name="AutoShape 7" id="7"/>
          <p:cNvSpPr/>
          <p:nvPr/>
        </p:nvSpPr>
        <p:spPr>
          <a:xfrm rot="0" flipH="false" flipV="false">
            <a:off x="1016000" y="2311400"/>
            <a:ext cx="38100" cy="3048000"/>
          </a:xfrm>
          <a:prstGeom prst="roundRect">
            <a:avLst>
              <a:gd name="adj" fmla="val 0"/>
            </a:avLst>
          </a:prstGeom>
          <a:solidFill>
            <a:srgbClr val="002FA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270000" y="2336800"/>
            <a:ext cx="3302000" cy="304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41666"/>
              </a:lnSpc>
              <a:defRPr/>
            </a:pPr>
            <a:r>
              <a:rPr lang="en-US" b="false" i="false" strike="noStrike" u="none" sz="1400">
                <a:solidFill>
                  <a:srgbClr val="383838"/>
                </a:solidFill>
                <a:latin typeface="Noto Serif SC"/>
                <a:ea typeface="Noto Serif SC"/>
                <a:cs typeface="Noto Serif SC"/>
                <a:sym typeface="Noto Serif SC"/>
              </a:rPr>
              <a:t>面向复杂分拣场景，构建集</a:t>
            </a:r>
            <a:r>
              <a:rPr lang="en-US" b="true" i="false" strike="noStrike" u="none" sz="1400">
                <a:solidFill>
                  <a:srgbClr val="111111"/>
                </a:solidFill>
                <a:latin typeface="Noto Serif SC"/>
                <a:ea typeface="Noto Serif SC"/>
                <a:cs typeface="Noto Serif SC"/>
                <a:sym typeface="Noto Serif SC"/>
              </a:rPr>
              <a:t>视觉感知、位姿估计与运动规划</a:t>
            </a:r>
            <a:r>
              <a:rPr lang="en-US" b="false" i="false" strike="noStrike" u="none" sz="1400">
                <a:solidFill>
                  <a:srgbClr val="383838"/>
                </a:solidFill>
                <a:latin typeface="Noto Serif SC"/>
                <a:ea typeface="Noto Serif SC"/>
                <a:cs typeface="Noto Serif SC"/>
                <a:sym typeface="Noto Serif SC"/>
              </a:rPr>
              <a:t>于一体的机械臂智能分拣系统。</a:t>
            </a:r>
            <a:endParaRPr lang="en-US" sz="1100"/>
          </a:p>
          <a:p>
            <a:pPr algn="l" marL="0" indent="0">
              <a:lnSpc>
                <a:spcPct val="141666"/>
              </a:lnSpc>
            </a:pPr>
            <a:r>
              <a:rPr lang="en-US" b="false" i="false" strike="noStrike" u="none" sz="1400">
                <a:solidFill>
                  <a:srgbClr val="383838"/>
                </a:solidFill>
                <a:latin typeface="Noto Serif SC"/>
                <a:ea typeface="Noto Serif SC"/>
                <a:cs typeface="Noto Serif SC"/>
                <a:sym typeface="Noto Serif SC"/>
              </a:rPr>
              <a:t/>
            </a:r>
          </a:p>
          <a:p>
            <a:pPr algn="l" marL="0" indent="0">
              <a:lnSpc>
                <a:spcPct val="141666"/>
              </a:lnSpc>
            </a:pPr>
            <a:r>
              <a:rPr lang="en-US" b="false" i="false" strike="noStrike" u="none" sz="1400">
                <a:solidFill>
                  <a:srgbClr val="383838"/>
                </a:solidFill>
                <a:latin typeface="Noto Serif SC"/>
                <a:ea typeface="Noto Serif SC"/>
                <a:cs typeface="Noto Serif SC"/>
                <a:sym typeface="Noto Serif SC"/>
              </a:rPr>
              <a:t>在保证目标识别精度与抓取成功率的同时，提升路径规划的</a:t>
            </a:r>
            <a:r>
              <a:rPr lang="en-US" b="true" i="false" strike="noStrike" u="none" sz="1400">
                <a:solidFill>
                  <a:srgbClr val="111111"/>
                </a:solidFill>
                <a:latin typeface="Noto Serif SC"/>
                <a:ea typeface="Noto Serif SC"/>
                <a:cs typeface="Noto Serif SC"/>
                <a:sym typeface="Noto Serif SC"/>
              </a:rPr>
              <a:t>实时性与轨迹最优性</a:t>
            </a:r>
            <a:r>
              <a:rPr lang="en-US" b="false" i="false" strike="noStrike" u="none" sz="1400">
                <a:solidFill>
                  <a:srgbClr val="383838"/>
                </a:solidFill>
                <a:latin typeface="Noto Serif SC"/>
                <a:ea typeface="Noto Serif SC"/>
                <a:cs typeface="Noto Serif SC"/>
                <a:sym typeface="Noto Serif SC"/>
              </a:rPr>
              <a:t>，实现"看得准、抓得稳、走得快"。</a:t>
            </a:r>
          </a:p>
        </p:txBody>
      </p:sp>
      <p:cxnSp>
        <p:nvCxnSpPr>
          <p:cNvPr name="Connector 9" id="9"/>
          <p:cNvCxnSpPr/>
          <p:nvPr/>
        </p:nvCxnSpPr>
        <p:spPr>
          <a:xfrm rot="5388145" flipH="false" flipV="false">
            <a:off x="3111500" y="3740161"/>
            <a:ext cx="3683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10" id="10"/>
          <p:cNvSpPr/>
          <p:nvPr/>
        </p:nvSpPr>
        <p:spPr>
          <a:xfrm rot="0" flipH="false" flipV="false">
            <a:off x="5334000" y="1854200"/>
            <a:ext cx="5842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2FA7"/>
                </a:solidFill>
                <a:latin typeface="Noto Serif SC"/>
                <a:ea typeface="Noto Serif SC"/>
                <a:cs typeface="Noto Serif SC"/>
                <a:sym typeface="Noto Serif SC"/>
              </a:rPr>
              <a:t>主要研究内容</a:t>
            </a:r>
            <a:endParaRPr lang="en-US" sz="1100"/>
          </a:p>
        </p:txBody>
      </p:sp>
      <p:sp>
        <p:nvSpPr>
          <p:cNvPr name="AutoShape 11" id="11"/>
          <p:cNvSpPr/>
          <p:nvPr/>
        </p:nvSpPr>
        <p:spPr>
          <a:xfrm rot="0" flipH="false" flipV="false">
            <a:off x="5334000" y="2362200"/>
            <a:ext cx="63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02FA7"/>
                </a:solidFill>
                <a:latin typeface="Noto Serif SC"/>
                <a:ea typeface="Noto Serif SC"/>
                <a:cs typeface="Noto Serif SC"/>
                <a:sym typeface="Noto Serif SC"/>
              </a:rPr>
              <a:t>1</a:t>
            </a:r>
            <a:endParaRPr lang="en-US" sz="1100"/>
          </a:p>
        </p:txBody>
      </p:sp>
      <p:sp>
        <p:nvSpPr>
          <p:cNvPr name="AutoShape 12" id="12"/>
          <p:cNvSpPr/>
          <p:nvPr/>
        </p:nvSpPr>
        <p:spPr>
          <a:xfrm rot="0" flipH="false" flipV="false">
            <a:off x="5715000" y="2362200"/>
            <a:ext cx="5461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11111"/>
                </a:solidFill>
                <a:latin typeface="Noto Serif SC"/>
                <a:ea typeface="Noto Serif SC"/>
                <a:cs typeface="Noto Serif SC"/>
                <a:sym typeface="Noto Serif SC"/>
              </a:rPr>
              <a:t>基于深度学习的目标识别与位姿估计</a:t>
            </a:r>
            <a:endParaRPr lang="en-US" sz="1100"/>
          </a:p>
        </p:txBody>
      </p:sp>
      <p:sp>
        <p:nvSpPr>
          <p:cNvPr name="AutoShape 13" id="13"/>
          <p:cNvSpPr/>
          <p:nvPr/>
        </p:nvSpPr>
        <p:spPr>
          <a:xfrm rot="0" flipH="false" flipV="false">
            <a:off x="5715000" y="2717800"/>
            <a:ext cx="5461000" cy="660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200">
                <a:solidFill>
                  <a:srgbClr val="5A5A5A"/>
                </a:solidFill>
                <a:latin typeface="Noto Serif SC"/>
                <a:ea typeface="Noto Serif SC"/>
                <a:cs typeface="Noto Serif SC"/>
                <a:sym typeface="Noto Serif SC"/>
              </a:rPr>
              <a:t>构建分拣工件数据集，研究改进的目标检测网络与 6D 位姿估计方法，实现对杂乱堆叠工件的识别与抓取位姿求解。</a:t>
            </a:r>
            <a:endParaRPr lang="en-US" sz="1100"/>
          </a:p>
        </p:txBody>
      </p:sp>
      <p:sp>
        <p:nvSpPr>
          <p:cNvPr name="AutoShape 14" id="14"/>
          <p:cNvSpPr/>
          <p:nvPr/>
        </p:nvSpPr>
        <p:spPr>
          <a:xfrm rot="0" flipH="false" flipV="false">
            <a:off x="5334000" y="3530600"/>
            <a:ext cx="63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02FA7"/>
                </a:solidFill>
                <a:latin typeface="Noto Serif SC"/>
                <a:ea typeface="Noto Serif SC"/>
                <a:cs typeface="Noto Serif SC"/>
                <a:sym typeface="Noto Serif SC"/>
              </a:rPr>
              <a:t>2</a:t>
            </a:r>
            <a:endParaRPr lang="en-US" sz="1100"/>
          </a:p>
        </p:txBody>
      </p:sp>
      <p:sp>
        <p:nvSpPr>
          <p:cNvPr name="AutoShape 15" id="15"/>
          <p:cNvSpPr/>
          <p:nvPr/>
        </p:nvSpPr>
        <p:spPr>
          <a:xfrm rot="0" flipH="false" flipV="false">
            <a:off x="5715000" y="3530600"/>
            <a:ext cx="5461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11111"/>
                </a:solidFill>
                <a:latin typeface="Noto Serif SC"/>
                <a:ea typeface="Noto Serif SC"/>
                <a:cs typeface="Noto Serif SC"/>
                <a:sym typeface="Noto Serif SC"/>
              </a:rPr>
              <a:t>改进机械臂路径规划算法</a:t>
            </a:r>
            <a:endParaRPr lang="en-US" sz="1100"/>
          </a:p>
        </p:txBody>
      </p:sp>
      <p:sp>
        <p:nvSpPr>
          <p:cNvPr name="AutoShape 16" id="16"/>
          <p:cNvSpPr/>
          <p:nvPr/>
        </p:nvSpPr>
        <p:spPr>
          <a:xfrm rot="0" flipH="false" flipV="false">
            <a:off x="5715000" y="3886200"/>
            <a:ext cx="5461000" cy="660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200">
                <a:solidFill>
                  <a:srgbClr val="5A5A5A"/>
                </a:solidFill>
                <a:latin typeface="Noto Serif SC"/>
                <a:ea typeface="Noto Serif SC"/>
                <a:cs typeface="Noto Serif SC"/>
                <a:sym typeface="Noto Serif SC"/>
              </a:rPr>
              <a:t>针对 RRT* 等算法收敛慢、路径冗余问题，改进采样策略与代价函数，兼顾规划效率、路径长度与轨迹平滑度。</a:t>
            </a:r>
            <a:endParaRPr lang="en-US" sz="1100"/>
          </a:p>
        </p:txBody>
      </p:sp>
      <p:sp>
        <p:nvSpPr>
          <p:cNvPr name="AutoShape 17" id="17"/>
          <p:cNvSpPr/>
          <p:nvPr/>
        </p:nvSpPr>
        <p:spPr>
          <a:xfrm rot="0" flipH="false" flipV="false">
            <a:off x="5334000" y="4699000"/>
            <a:ext cx="63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02FA7"/>
                </a:solidFill>
                <a:latin typeface="Noto Serif SC"/>
                <a:ea typeface="Noto Serif SC"/>
                <a:cs typeface="Noto Serif SC"/>
                <a:sym typeface="Noto Serif SC"/>
              </a:rPr>
              <a:t>3</a:t>
            </a:r>
            <a:endParaRPr lang="en-US" sz="1100"/>
          </a:p>
        </p:txBody>
      </p:sp>
      <p:sp>
        <p:nvSpPr>
          <p:cNvPr name="AutoShape 18" id="18"/>
          <p:cNvSpPr/>
          <p:nvPr/>
        </p:nvSpPr>
        <p:spPr>
          <a:xfrm rot="0" flipH="false" flipV="false">
            <a:off x="5715000" y="4699000"/>
            <a:ext cx="5461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11111"/>
                </a:solidFill>
                <a:latin typeface="Noto Serif SC"/>
                <a:ea typeface="Noto Serif SC"/>
                <a:cs typeface="Noto Serif SC"/>
                <a:sym typeface="Noto Serif SC"/>
              </a:rPr>
              <a:t>分拣系统集成与实验验证</a:t>
            </a:r>
            <a:endParaRPr lang="en-US" sz="1100"/>
          </a:p>
        </p:txBody>
      </p:sp>
      <p:sp>
        <p:nvSpPr>
          <p:cNvPr name="AutoShape 19" id="19"/>
          <p:cNvSpPr/>
          <p:nvPr/>
        </p:nvSpPr>
        <p:spPr>
          <a:xfrm rot="0" flipH="false" flipV="false">
            <a:off x="5715000" y="5054600"/>
            <a:ext cx="5461000" cy="660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200">
                <a:solidFill>
                  <a:srgbClr val="5A5A5A"/>
                </a:solidFill>
                <a:latin typeface="Noto Serif SC"/>
                <a:ea typeface="Noto Serif SC"/>
                <a:cs typeface="Noto Serif SC"/>
                <a:sym typeface="Noto Serif SC"/>
              </a:rPr>
              <a:t>搭建仿真（及实物）实验平台，完成视觉—规划—控制闭环，通过对比实验验证所提方法的有效性。</a:t>
            </a:r>
            <a:endParaRPr lang="en-US" sz="1100"/>
          </a:p>
        </p:txBody>
      </p:sp>
      <p:cxnSp>
        <p:nvCxnSpPr>
          <p:cNvPr name="Connector 20" id="20"/>
          <p:cNvCxnSpPr/>
          <p:nvPr/>
        </p:nvCxnSpPr>
        <p:spPr>
          <a:xfrm rot="-4297" flipH="false" flipV="false">
            <a:off x="1016004" y="6216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21" id="21"/>
          <p:cNvSpPr/>
          <p:nvPr/>
        </p:nvSpPr>
        <p:spPr>
          <a:xfrm rot="0" flipH="false" flipV="false">
            <a:off x="1016000" y="6324600"/>
            <a:ext cx="635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900">
                <a:solidFill>
                  <a:srgbClr val="969696"/>
                </a:solidFill>
                <a:latin typeface="Noto Serif SC"/>
                <a:ea typeface="Noto Serif SC"/>
                <a:cs typeface="Noto Serif SC"/>
                <a:sym typeface="Noto Serif SC"/>
              </a:rPr>
              <a:t>基于深度学习和改进路径规划的机械臂分拣系统研究</a:t>
            </a:r>
            <a:endParaRPr lang="en-US" sz="1100"/>
          </a:p>
        </p:txBody>
      </p:sp>
      <p:sp>
        <p:nvSpPr>
          <p:cNvPr name="AutoShape 22" id="22"/>
          <p:cNvSpPr/>
          <p:nvPr/>
        </p:nvSpPr>
        <p:spPr>
          <a:xfrm rot="0" flipH="false" flipV="false">
            <a:off x="10160000" y="6324600"/>
            <a:ext cx="1016000" cy="2286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900">
                <a:solidFill>
                  <a:srgbClr val="969696"/>
                </a:solidFill>
                <a:latin typeface="Noto Serif SC"/>
                <a:ea typeface="Noto Serif SC"/>
                <a:cs typeface="Noto Serif SC"/>
                <a:sym typeface="Noto Serif SC"/>
              </a:rPr>
              <a:t>04</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5F3EE">
            <a:alpha val="100000"/>
          </a:srgbClr>
        </a:solidFill>
      </p:bgPr>
    </p:bg>
    <p:spTree>
      <p:nvGrpSpPr>
        <p:cNvPr id="1" name=""/>
        <p:cNvGrpSpPr/>
        <p:nvPr/>
      </p:nvGrpSpPr>
      <p:grpSpPr>
        <a:xfrm>
          <a:off x="0" y="0"/>
          <a:ext cx="0" cy="0"/>
          <a:chOff x="0" y="0"/>
          <a:chExt cx="0" cy="0"/>
        </a:xfrm>
      </p:grpSpPr>
      <p:cxnSp>
        <p:nvCxnSpPr>
          <p:cNvPr name="Connector 2" id="2"/>
          <p:cNvCxnSpPr/>
          <p:nvPr/>
        </p:nvCxnSpPr>
        <p:spPr>
          <a:xfrm rot="-4297" flipH="false" flipV="false">
            <a:off x="1016004" y="552450"/>
            <a:ext cx="10160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3" id="3"/>
          <p:cNvSpPr/>
          <p:nvPr/>
        </p:nvSpPr>
        <p:spPr>
          <a:xfrm rot="0" flipH="false" flipV="false">
            <a:off x="1016000" y="330200"/>
            <a:ext cx="508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787878"/>
                </a:solidFill>
                <a:latin typeface="Noto Serif SC"/>
                <a:ea typeface="Noto Serif SC"/>
                <a:cs typeface="Noto Serif SC"/>
                <a:sym typeface="Noto Serif SC"/>
              </a:rPr>
              <a:t>02　研究目标与技术路线</a:t>
            </a:r>
            <a:endParaRPr lang="en-US" sz="1100"/>
          </a:p>
        </p:txBody>
      </p:sp>
      <p:sp>
        <p:nvSpPr>
          <p:cNvPr name="AutoShape 4" id="4"/>
          <p:cNvSpPr/>
          <p:nvPr/>
        </p:nvSpPr>
        <p:spPr>
          <a:xfrm rot="0" flipH="false" flipV="false">
            <a:off x="1016000" y="762000"/>
            <a:ext cx="965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111111"/>
                </a:solidFill>
                <a:latin typeface="Noto Serif SC"/>
                <a:ea typeface="Noto Serif SC"/>
                <a:cs typeface="Noto Serif SC"/>
                <a:sym typeface="Noto Serif SC"/>
              </a:rPr>
              <a:t>系统总体技术路线</a:t>
            </a:r>
            <a:endParaRPr lang="en-US" sz="1100"/>
          </a:p>
        </p:txBody>
      </p:sp>
      <p:cxnSp>
        <p:nvCxnSpPr>
          <p:cNvPr name="Connector 5" id="5"/>
          <p:cNvCxnSpPr/>
          <p:nvPr/>
        </p:nvCxnSpPr>
        <p:spPr>
          <a:xfrm rot="-57290" flipH="false" flipV="false">
            <a:off x="1016053" y="1466850"/>
            <a:ext cx="7620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none" w="lg" len="lg"/>
          </a:ln>
        </p:spPr>
      </p:cxnSp>
      <p:sp>
        <p:nvSpPr>
          <p:cNvPr name="AutoShape 6" id="6"/>
          <p:cNvSpPr/>
          <p:nvPr/>
        </p:nvSpPr>
        <p:spPr>
          <a:xfrm rot="0" flipH="false" flipV="false">
            <a:off x="1016000" y="1778000"/>
            <a:ext cx="965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5A5A5A"/>
                </a:solidFill>
                <a:latin typeface="Noto Serif SC"/>
                <a:ea typeface="Noto Serif SC"/>
                <a:cs typeface="Noto Serif SC"/>
                <a:sym typeface="Noto Serif SC"/>
              </a:rPr>
              <a:t>系统按"感知—决策—执行"三级闭环运行，视觉模块输出抓取位姿，规划模块输出无碰撞最优轨迹。</a:t>
            </a:r>
            <a:endParaRPr lang="en-US" sz="1100"/>
          </a:p>
        </p:txBody>
      </p:sp>
      <p:sp>
        <p:nvSpPr>
          <p:cNvPr name="AutoShape 7" id="7"/>
          <p:cNvSpPr/>
          <p:nvPr/>
        </p:nvSpPr>
        <p:spPr>
          <a:xfrm rot="0" flipH="false" flipV="false">
            <a:off x="1016000" y="2540000"/>
            <a:ext cx="2222500" cy="1905000"/>
          </a:xfrm>
          <a:prstGeom prst="roundRect">
            <a:avLst>
              <a:gd name="adj" fmla="val 2666"/>
            </a:avLst>
          </a:prstGeom>
          <a:solidFill>
            <a:srgbClr val="FFFFFF">
              <a:alpha val="100000"/>
            </a:srgbClr>
          </a:solidFill>
          <a:ln w="12700" cmpd="sng" cap="flat">
            <a:solidFill>
              <a:srgbClr val="002FA7">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206500" y="2743200"/>
            <a:ext cx="1841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002FA7"/>
                </a:solidFill>
                <a:latin typeface="Noto Serif SC"/>
                <a:ea typeface="Noto Serif SC"/>
                <a:cs typeface="Noto Serif SC"/>
                <a:sym typeface="Noto Serif SC"/>
              </a:rPr>
              <a:t>① 数据采集</a:t>
            </a:r>
            <a:endParaRPr lang="en-US" sz="1100"/>
          </a:p>
        </p:txBody>
      </p:sp>
      <p:sp>
        <p:nvSpPr>
          <p:cNvPr name="AutoShape 9" id="9"/>
          <p:cNvSpPr/>
          <p:nvPr/>
        </p:nvSpPr>
        <p:spPr>
          <a:xfrm rot="0" flipH="false" flipV="false">
            <a:off x="1206500" y="3149600"/>
            <a:ext cx="1841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100">
                <a:solidFill>
                  <a:srgbClr val="505050"/>
                </a:solidFill>
                <a:latin typeface="Noto Serif SC"/>
                <a:ea typeface="Noto Serif SC"/>
                <a:cs typeface="Noto Serif SC"/>
                <a:sym typeface="Noto Serif SC"/>
              </a:rPr>
              <a:t>RGB-D 相机采集点云与彩色图像；工件数据集构建与标注；点云预处理、配准与分割。</a:t>
            </a:r>
            <a:endParaRPr lang="en-US" sz="1100"/>
          </a:p>
        </p:txBody>
      </p:sp>
      <p:cxnSp>
        <p:nvCxnSpPr>
          <p:cNvPr name="Connector 10" id="10"/>
          <p:cNvCxnSpPr/>
          <p:nvPr/>
        </p:nvCxnSpPr>
        <p:spPr>
          <a:xfrm rot="-95468" flipH="false" flipV="false">
            <a:off x="3327488" y="3486150"/>
            <a:ext cx="4572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arrow" w="lg" len="lg"/>
          </a:ln>
        </p:spPr>
      </p:cxnSp>
      <p:sp>
        <p:nvSpPr>
          <p:cNvPr name="AutoShape 11" id="11"/>
          <p:cNvSpPr/>
          <p:nvPr/>
        </p:nvSpPr>
        <p:spPr>
          <a:xfrm rot="0" flipH="false" flipV="false">
            <a:off x="3873500" y="2540000"/>
            <a:ext cx="2222500" cy="1905000"/>
          </a:xfrm>
          <a:prstGeom prst="roundRect">
            <a:avLst>
              <a:gd name="adj" fmla="val 2666"/>
            </a:avLst>
          </a:prstGeom>
          <a:solidFill>
            <a:srgbClr val="FFFFFF">
              <a:alpha val="100000"/>
            </a:srgbClr>
          </a:solidFill>
          <a:ln w="12700" cmpd="sng" cap="flat">
            <a:solidFill>
              <a:srgbClr val="002FA7">
                <a:alpha val="10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064000" y="2743200"/>
            <a:ext cx="1841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002FA7"/>
                </a:solidFill>
                <a:latin typeface="Noto Serif SC"/>
                <a:ea typeface="Noto Serif SC"/>
                <a:cs typeface="Noto Serif SC"/>
                <a:sym typeface="Noto Serif SC"/>
              </a:rPr>
              <a:t>② 视觉感知</a:t>
            </a:r>
            <a:endParaRPr lang="en-US" sz="1100"/>
          </a:p>
        </p:txBody>
      </p:sp>
      <p:sp>
        <p:nvSpPr>
          <p:cNvPr name="AutoShape 13" id="13"/>
          <p:cNvSpPr/>
          <p:nvPr/>
        </p:nvSpPr>
        <p:spPr>
          <a:xfrm rot="0" flipH="false" flipV="false">
            <a:off x="4064000" y="3149600"/>
            <a:ext cx="1841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100">
                <a:solidFill>
                  <a:srgbClr val="505050"/>
                </a:solidFill>
                <a:latin typeface="Noto Serif SC"/>
                <a:ea typeface="Noto Serif SC"/>
                <a:cs typeface="Noto Serif SC"/>
                <a:sym typeface="Noto Serif SC"/>
              </a:rPr>
              <a:t>改进目标检测网络识别工件类别；6D 位姿估计求解物体空间位姿；输出抓取点与抓取方向。</a:t>
            </a:r>
            <a:endParaRPr lang="en-US" sz="1100"/>
          </a:p>
        </p:txBody>
      </p:sp>
      <p:cxnSp>
        <p:nvCxnSpPr>
          <p:cNvPr name="Connector 14" id="14"/>
          <p:cNvCxnSpPr/>
          <p:nvPr/>
        </p:nvCxnSpPr>
        <p:spPr>
          <a:xfrm rot="-95468" flipH="false" flipV="false">
            <a:off x="6184988" y="3486150"/>
            <a:ext cx="4572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arrow" w="lg" len="lg"/>
          </a:ln>
        </p:spPr>
      </p:cxnSp>
      <p:sp>
        <p:nvSpPr>
          <p:cNvPr name="AutoShape 15" id="15"/>
          <p:cNvSpPr/>
          <p:nvPr/>
        </p:nvSpPr>
        <p:spPr>
          <a:xfrm rot="0" flipH="false" flipV="false">
            <a:off x="6731000" y="2540000"/>
            <a:ext cx="2222500" cy="1905000"/>
          </a:xfrm>
          <a:prstGeom prst="roundRect">
            <a:avLst>
              <a:gd name="adj" fmla="val 2666"/>
            </a:avLst>
          </a:prstGeom>
          <a:solidFill>
            <a:srgbClr val="FFFFFF">
              <a:alpha val="100000"/>
            </a:srgbClr>
          </a:solidFill>
          <a:ln w="12700" cmpd="sng" cap="flat">
            <a:solidFill>
              <a:srgbClr val="002FA7">
                <a:alpha val="10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921500" y="2743200"/>
            <a:ext cx="1841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002FA7"/>
                </a:solidFill>
                <a:latin typeface="Noto Serif SC"/>
                <a:ea typeface="Noto Serif SC"/>
                <a:cs typeface="Noto Serif SC"/>
                <a:sym typeface="Noto Serif SC"/>
              </a:rPr>
              <a:t>③ 路径规划</a:t>
            </a:r>
            <a:endParaRPr lang="en-US" sz="1100"/>
          </a:p>
        </p:txBody>
      </p:sp>
      <p:sp>
        <p:nvSpPr>
          <p:cNvPr name="AutoShape 17" id="17"/>
          <p:cNvSpPr/>
          <p:nvPr/>
        </p:nvSpPr>
        <p:spPr>
          <a:xfrm rot="0" flipH="false" flipV="false">
            <a:off x="6921500" y="3149600"/>
            <a:ext cx="1841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100">
                <a:solidFill>
                  <a:srgbClr val="505050"/>
                </a:solidFill>
                <a:latin typeface="Noto Serif SC"/>
                <a:ea typeface="Noto Serif SC"/>
                <a:cs typeface="Noto Serif SC"/>
                <a:sym typeface="Noto Serif SC"/>
              </a:rPr>
              <a:t>改进 RRT* / 智能优化算法；碰撞检测；路径平滑与时间最优参数化。</a:t>
            </a:r>
            <a:endParaRPr lang="en-US" sz="1100"/>
          </a:p>
        </p:txBody>
      </p:sp>
      <p:cxnSp>
        <p:nvCxnSpPr>
          <p:cNvPr name="Connector 18" id="18"/>
          <p:cNvCxnSpPr/>
          <p:nvPr/>
        </p:nvCxnSpPr>
        <p:spPr>
          <a:xfrm rot="-95468" flipH="false" flipV="false">
            <a:off x="9042488" y="3486150"/>
            <a:ext cx="4572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arrow" w="lg" len="lg"/>
          </a:ln>
        </p:spPr>
      </p:cxnSp>
      <p:sp>
        <p:nvSpPr>
          <p:cNvPr name="AutoShape 19" id="19"/>
          <p:cNvSpPr/>
          <p:nvPr/>
        </p:nvSpPr>
        <p:spPr>
          <a:xfrm rot="0" flipH="false" flipV="false">
            <a:off x="9588500" y="2540000"/>
            <a:ext cx="1587500" cy="1905000"/>
          </a:xfrm>
          <a:prstGeom prst="roundRect">
            <a:avLst>
              <a:gd name="adj" fmla="val 3200"/>
            </a:avLst>
          </a:prstGeom>
          <a:solidFill>
            <a:srgbClr val="002FA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779000" y="2743200"/>
            <a:ext cx="1206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FFFFF"/>
                </a:solidFill>
                <a:latin typeface="Noto Serif SC"/>
                <a:ea typeface="Noto Serif SC"/>
                <a:cs typeface="Noto Serif SC"/>
                <a:sym typeface="Noto Serif SC"/>
              </a:rPr>
              <a:t>④ 分拣执行</a:t>
            </a:r>
            <a:endParaRPr lang="en-US" sz="1100"/>
          </a:p>
        </p:txBody>
      </p:sp>
      <p:sp>
        <p:nvSpPr>
          <p:cNvPr name="AutoShape 21" id="21"/>
          <p:cNvSpPr/>
          <p:nvPr/>
        </p:nvSpPr>
        <p:spPr>
          <a:xfrm rot="0" flipH="false" flipV="false">
            <a:off x="9779000" y="3149600"/>
            <a:ext cx="1206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100">
                <a:solidFill>
                  <a:srgbClr val="E6E6E6"/>
                </a:solidFill>
                <a:latin typeface="Noto Serif SC"/>
                <a:ea typeface="Noto Serif SC"/>
                <a:cs typeface="Noto Serif SC"/>
                <a:sym typeface="Noto Serif SC"/>
              </a:rPr>
              <a:t>机械臂轨迹跟踪抓取与放置；多工件连续分拣闭环。</a:t>
            </a:r>
            <a:endParaRPr lang="en-US" sz="1100"/>
          </a:p>
        </p:txBody>
      </p:sp>
      <p:cxnSp>
        <p:nvCxnSpPr>
          <p:cNvPr name="Connector 22" id="22"/>
          <p:cNvCxnSpPr/>
          <p:nvPr/>
        </p:nvCxnSpPr>
        <p:spPr>
          <a:xfrm rot="-4297" flipH="false" flipV="false">
            <a:off x="1016004" y="5073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23" id="23"/>
          <p:cNvSpPr/>
          <p:nvPr/>
        </p:nvSpPr>
        <p:spPr>
          <a:xfrm rot="0" flipH="false" flipV="false">
            <a:off x="1016000" y="5257800"/>
            <a:ext cx="965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002FA7"/>
                </a:solidFill>
                <a:latin typeface="Noto Serif SC"/>
                <a:ea typeface="Noto Serif SC"/>
                <a:cs typeface="Noto Serif SC"/>
                <a:sym typeface="Noto Serif SC"/>
              </a:rPr>
              <a:t>两条主线：</a:t>
            </a:r>
            <a:r>
              <a:rPr lang="en-US" b="false" i="false" strike="noStrike" u="none" sz="1200">
                <a:solidFill>
                  <a:srgbClr val="5A5A5A"/>
                </a:solidFill>
                <a:latin typeface="Noto Serif SC"/>
                <a:ea typeface="Noto Serif SC"/>
                <a:cs typeface="Noto Serif SC"/>
                <a:sym typeface="Noto Serif SC"/>
              </a:rPr>
              <a:t>视觉感知保证"看得准"，改进路径规划保证"走得快"，二者在分拣任务层协同优化。</a:t>
            </a:r>
            <a:endParaRPr lang="en-US" sz="1100"/>
          </a:p>
        </p:txBody>
      </p:sp>
      <p:cxnSp>
        <p:nvCxnSpPr>
          <p:cNvPr name="Connector 24" id="24"/>
          <p:cNvCxnSpPr/>
          <p:nvPr/>
        </p:nvCxnSpPr>
        <p:spPr>
          <a:xfrm rot="-4297" flipH="false" flipV="false">
            <a:off x="1016004" y="6216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25" id="25"/>
          <p:cNvSpPr/>
          <p:nvPr/>
        </p:nvSpPr>
        <p:spPr>
          <a:xfrm rot="0" flipH="false" flipV="false">
            <a:off x="1016000" y="6324600"/>
            <a:ext cx="635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900">
                <a:solidFill>
                  <a:srgbClr val="969696"/>
                </a:solidFill>
                <a:latin typeface="Noto Serif SC"/>
                <a:ea typeface="Noto Serif SC"/>
                <a:cs typeface="Noto Serif SC"/>
                <a:sym typeface="Noto Serif SC"/>
              </a:rPr>
              <a:t>基于深度学习和改进路径规划的机械臂分拣系统研究</a:t>
            </a:r>
            <a:endParaRPr lang="en-US" sz="1100"/>
          </a:p>
        </p:txBody>
      </p:sp>
      <p:sp>
        <p:nvSpPr>
          <p:cNvPr name="AutoShape 26" id="26"/>
          <p:cNvSpPr/>
          <p:nvPr/>
        </p:nvSpPr>
        <p:spPr>
          <a:xfrm rot="0" flipH="false" flipV="false">
            <a:off x="10160000" y="6324600"/>
            <a:ext cx="1016000" cy="2286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900">
                <a:solidFill>
                  <a:srgbClr val="969696"/>
                </a:solidFill>
                <a:latin typeface="Noto Serif SC"/>
                <a:ea typeface="Noto Serif SC"/>
                <a:cs typeface="Noto Serif SC"/>
                <a:sym typeface="Noto Serif SC"/>
              </a:rPr>
              <a:t>05</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5F3EE">
            <a:alpha val="100000"/>
          </a:srgbClr>
        </a:solidFill>
      </p:bgPr>
    </p:bg>
    <p:spTree>
      <p:nvGrpSpPr>
        <p:cNvPr id="1" name=""/>
        <p:cNvGrpSpPr/>
        <p:nvPr/>
      </p:nvGrpSpPr>
      <p:grpSpPr>
        <a:xfrm>
          <a:off x="0" y="0"/>
          <a:ext cx="0" cy="0"/>
          <a:chOff x="0" y="0"/>
          <a:chExt cx="0" cy="0"/>
        </a:xfrm>
      </p:grpSpPr>
      <p:cxnSp>
        <p:nvCxnSpPr>
          <p:cNvPr name="Connector 2" id="2"/>
          <p:cNvCxnSpPr/>
          <p:nvPr/>
        </p:nvCxnSpPr>
        <p:spPr>
          <a:xfrm rot="-4297" flipH="false" flipV="false">
            <a:off x="1016004" y="552450"/>
            <a:ext cx="10160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3" id="3"/>
          <p:cNvSpPr/>
          <p:nvPr/>
        </p:nvSpPr>
        <p:spPr>
          <a:xfrm rot="0" flipH="false" flipV="false">
            <a:off x="1016000" y="330200"/>
            <a:ext cx="508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787878"/>
                </a:solidFill>
                <a:latin typeface="Noto Serif SC"/>
                <a:ea typeface="Noto Serif SC"/>
                <a:cs typeface="Noto Serif SC"/>
                <a:sym typeface="Noto Serif SC"/>
              </a:rPr>
              <a:t>03　已完成的研究工作</a:t>
            </a:r>
            <a:endParaRPr lang="en-US" sz="1100"/>
          </a:p>
        </p:txBody>
      </p:sp>
      <p:sp>
        <p:nvSpPr>
          <p:cNvPr name="AutoShape 4" id="4"/>
          <p:cNvSpPr/>
          <p:nvPr/>
        </p:nvSpPr>
        <p:spPr>
          <a:xfrm rot="0" flipH="false" flipV="false">
            <a:off x="1016000" y="762000"/>
            <a:ext cx="965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111111"/>
                </a:solidFill>
                <a:latin typeface="Noto Serif SC"/>
                <a:ea typeface="Noto Serif SC"/>
                <a:cs typeface="Noto Serif SC"/>
                <a:sym typeface="Noto Serif SC"/>
              </a:rPr>
              <a:t>研究进度总览</a:t>
            </a:r>
            <a:endParaRPr lang="en-US" sz="1100"/>
          </a:p>
        </p:txBody>
      </p:sp>
      <p:cxnSp>
        <p:nvCxnSpPr>
          <p:cNvPr name="Connector 5" id="5"/>
          <p:cNvCxnSpPr/>
          <p:nvPr/>
        </p:nvCxnSpPr>
        <p:spPr>
          <a:xfrm rot="-57290" flipH="false" flipV="false">
            <a:off x="1016053" y="1466850"/>
            <a:ext cx="7620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none" w="lg" len="lg"/>
          </a:ln>
        </p:spPr>
      </p:cxnSp>
      <p:sp>
        <p:nvSpPr>
          <p:cNvPr name="AutoShape 6" id="6"/>
          <p:cNvSpPr/>
          <p:nvPr/>
        </p:nvSpPr>
        <p:spPr>
          <a:xfrm rot="0" flipH="false" flipV="false">
            <a:off x="1016000" y="1778000"/>
            <a:ext cx="965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5A5A5A"/>
                </a:solidFill>
                <a:latin typeface="Noto Serif SC"/>
                <a:ea typeface="Noto Serif SC"/>
                <a:cs typeface="Noto Serif SC"/>
                <a:sym typeface="Noto Serif SC"/>
              </a:rPr>
              <a:t>截至目前，课题按计划推进，主体算法已完成仿真验证，整体进度约完成 60%。</a:t>
            </a:r>
            <a:endParaRPr lang="en-US" sz="1100"/>
          </a:p>
        </p:txBody>
      </p:sp>
      <p:cxnSp>
        <p:nvCxnSpPr>
          <p:cNvPr name="Connector 7" id="7"/>
          <p:cNvCxnSpPr/>
          <p:nvPr/>
        </p:nvCxnSpPr>
        <p:spPr>
          <a:xfrm rot="-10742" flipH="false" flipV="false">
            <a:off x="1778010" y="3549650"/>
            <a:ext cx="4064000" cy="12700"/>
          </a:xfrm>
          <a:prstGeom prst="straightConnector1">
            <a:avLst/>
          </a:prstGeom>
          <a:solidFill>
            <a:srgbClr val="DEE0E3">
              <a:alpha val="100000"/>
            </a:srgbClr>
          </a:solidFill>
          <a:ln w="25400" cmpd="sng" cap="flat">
            <a:solidFill>
              <a:srgbClr val="B7B7B7">
                <a:alpha val="100000"/>
              </a:srgbClr>
            </a:solidFill>
            <a:prstDash val="solid"/>
            <a:round/>
            <a:headEnd type="none" w="lg" len="lg"/>
            <a:tailEnd type="none" w="lg" len="lg"/>
          </a:ln>
        </p:spPr>
      </p:cxnSp>
      <p:cxnSp>
        <p:nvCxnSpPr>
          <p:cNvPr name="Connector 8" id="8"/>
          <p:cNvCxnSpPr/>
          <p:nvPr/>
        </p:nvCxnSpPr>
        <p:spPr>
          <a:xfrm rot="-11018" flipH="false" flipV="false">
            <a:off x="6451610" y="3549650"/>
            <a:ext cx="3962400" cy="12700"/>
          </a:xfrm>
          <a:prstGeom prst="straightConnector1">
            <a:avLst/>
          </a:prstGeom>
          <a:solidFill>
            <a:srgbClr val="DEE0E3">
              <a:alpha val="100000"/>
            </a:srgbClr>
          </a:solidFill>
          <a:ln w="25400" cmpd="sng" cap="flat">
            <a:solidFill>
              <a:srgbClr val="B7B7B7">
                <a:alpha val="100000"/>
              </a:srgbClr>
            </a:solidFill>
            <a:prstDash val="solid"/>
            <a:round/>
            <a:headEnd type="none" w="lg" len="lg"/>
            <a:tailEnd type="none" w="lg" len="lg"/>
          </a:ln>
        </p:spPr>
      </p:cxnSp>
      <p:sp>
        <p:nvSpPr>
          <p:cNvPr name="AutoShape 9" id="9"/>
          <p:cNvSpPr/>
          <p:nvPr/>
        </p:nvSpPr>
        <p:spPr>
          <a:xfrm rot="0" flipH="false" flipV="false">
            <a:off x="1041400" y="2286000"/>
            <a:ext cx="25400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002FA7"/>
                </a:solidFill>
                <a:latin typeface="Noto Serif SC"/>
                <a:ea typeface="Noto Serif SC"/>
                <a:cs typeface="Noto Serif SC"/>
                <a:sym typeface="Noto Serif SC"/>
              </a:rPr>
              <a:t>开题阶段</a:t>
            </a:r>
            <a:endParaRPr lang="en-US" sz="1100"/>
          </a:p>
        </p:txBody>
      </p:sp>
      <p:sp>
        <p:nvSpPr>
          <p:cNvPr name="AutoShape 10" id="10"/>
          <p:cNvSpPr/>
          <p:nvPr/>
        </p:nvSpPr>
        <p:spPr>
          <a:xfrm rot="0" flipH="false" flipV="false">
            <a:off x="1041400" y="2667000"/>
            <a:ext cx="2540000" cy="711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6666"/>
              </a:lnSpc>
              <a:defRPr/>
            </a:pPr>
            <a:r>
              <a:rPr lang="en-US" b="false" i="false" strike="noStrike" u="none" sz="1100">
                <a:solidFill>
                  <a:srgbClr val="5A5A5A"/>
                </a:solidFill>
                <a:latin typeface="Noto Serif SC"/>
                <a:ea typeface="Noto Serif SC"/>
                <a:cs typeface="Noto Serif SC"/>
                <a:sym typeface="Noto Serif SC"/>
              </a:rPr>
              <a:t>文献调研　开题报告</a:t>
            </a:r>
            <a:endParaRPr lang="en-US" sz="1100"/>
          </a:p>
          <a:p>
            <a:pPr algn="ctr" marL="0" indent="0">
              <a:lnSpc>
                <a:spcPct val="116666"/>
              </a:lnSpc>
            </a:pPr>
            <a:r>
              <a:rPr lang="en-US" b="false" i="false" strike="noStrike" u="none" sz="1100">
                <a:solidFill>
                  <a:srgbClr val="5A5A5A"/>
                </a:solidFill>
                <a:latin typeface="Noto Serif SC"/>
                <a:ea typeface="Noto Serif SC"/>
                <a:cs typeface="Noto Serif SC"/>
                <a:sym typeface="Noto Serif SC"/>
              </a:rPr>
              <a:t>方案论证　任务分解</a:t>
            </a:r>
          </a:p>
        </p:txBody>
      </p:sp>
      <p:sp>
        <p:nvSpPr>
          <p:cNvPr name="AutoShape 11" id="11"/>
          <p:cNvSpPr/>
          <p:nvPr/>
        </p:nvSpPr>
        <p:spPr>
          <a:xfrm rot="0" flipH="false" flipV="false">
            <a:off x="2159000" y="3403600"/>
            <a:ext cx="304800" cy="304800"/>
          </a:xfrm>
          <a:prstGeom prst="ellipse">
            <a:avLst/>
          </a:prstGeom>
          <a:solidFill>
            <a:srgbClr val="002FA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041400" y="3810000"/>
            <a:ext cx="25400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000">
                <a:solidFill>
                  <a:srgbClr val="787878"/>
                </a:solidFill>
                <a:latin typeface="Noto Serif SC"/>
                <a:ea typeface="Noto Serif SC"/>
                <a:cs typeface="Noto Serif SC"/>
                <a:sym typeface="Noto Serif SC"/>
              </a:rPr>
              <a:t>已完成</a:t>
            </a:r>
            <a:endParaRPr lang="en-US" sz="1100"/>
          </a:p>
        </p:txBody>
      </p:sp>
      <p:sp>
        <p:nvSpPr>
          <p:cNvPr name="AutoShape 13" id="13"/>
          <p:cNvSpPr/>
          <p:nvPr/>
        </p:nvSpPr>
        <p:spPr>
          <a:xfrm rot="0" flipH="false" flipV="false">
            <a:off x="5867400" y="3327400"/>
            <a:ext cx="558800" cy="558800"/>
          </a:xfrm>
          <a:prstGeom prst="ellipse">
            <a:avLst/>
          </a:prstGeom>
          <a:noFill/>
          <a:ln w="12700" cmpd="sng" cap="flat">
            <a:solidFill>
              <a:srgbClr val="002FA7">
                <a:alpha val="10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5943600" y="3403600"/>
            <a:ext cx="406400" cy="406400"/>
          </a:xfrm>
          <a:prstGeom prst="ellipse">
            <a:avLst/>
          </a:prstGeom>
          <a:solidFill>
            <a:srgbClr val="002FA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876800" y="2286000"/>
            <a:ext cx="25400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111111"/>
                </a:solidFill>
                <a:latin typeface="Noto Serif SC"/>
                <a:ea typeface="Noto Serif SC"/>
                <a:cs typeface="Noto Serif SC"/>
                <a:sym typeface="Noto Serif SC"/>
              </a:rPr>
              <a:t>中期阶段（当前）</a:t>
            </a:r>
            <a:endParaRPr lang="en-US" sz="1100"/>
          </a:p>
        </p:txBody>
      </p:sp>
      <p:sp>
        <p:nvSpPr>
          <p:cNvPr name="AutoShape 16" id="16"/>
          <p:cNvSpPr/>
          <p:nvPr/>
        </p:nvSpPr>
        <p:spPr>
          <a:xfrm rot="0" flipH="false" flipV="false">
            <a:off x="4749800" y="2616200"/>
            <a:ext cx="2794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6666"/>
              </a:lnSpc>
              <a:defRPr/>
            </a:pPr>
            <a:r>
              <a:rPr lang="en-US" b="false" i="false" strike="noStrike" u="none" sz="1100">
                <a:solidFill>
                  <a:srgbClr val="3C3C3C"/>
                </a:solidFill>
                <a:latin typeface="Noto Serif SC"/>
                <a:ea typeface="Noto Serif SC"/>
                <a:cs typeface="Noto Serif SC"/>
                <a:sym typeface="Noto Serif SC"/>
              </a:rPr>
              <a:t>视觉模型搭建　路径规划算法改进</a:t>
            </a:r>
            <a:endParaRPr lang="en-US" sz="1100"/>
          </a:p>
          <a:p>
            <a:pPr algn="ctr" marL="0" indent="0">
              <a:lnSpc>
                <a:spcPct val="116666"/>
              </a:lnSpc>
            </a:pPr>
            <a:r>
              <a:rPr lang="en-US" b="false" i="false" strike="noStrike" u="none" sz="1100">
                <a:solidFill>
                  <a:srgbClr val="3C3C3C"/>
                </a:solidFill>
                <a:latin typeface="Noto Serif SC"/>
                <a:ea typeface="Noto Serif SC"/>
                <a:cs typeface="Noto Serif SC"/>
                <a:sym typeface="Noto Serif SC"/>
              </a:rPr>
              <a:t>仿真实验与对比分析</a:t>
            </a:r>
          </a:p>
        </p:txBody>
      </p:sp>
      <p:sp>
        <p:nvSpPr>
          <p:cNvPr name="AutoShape 17" id="17"/>
          <p:cNvSpPr/>
          <p:nvPr/>
        </p:nvSpPr>
        <p:spPr>
          <a:xfrm rot="0" flipH="false" flipV="false">
            <a:off x="4876800" y="4038600"/>
            <a:ext cx="25400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000">
                <a:solidFill>
                  <a:srgbClr val="002FA7"/>
                </a:solidFill>
                <a:latin typeface="Noto Serif SC"/>
                <a:ea typeface="Noto Serif SC"/>
                <a:cs typeface="Noto Serif SC"/>
                <a:sym typeface="Noto Serif SC"/>
              </a:rPr>
              <a:t>进行中 · 本次汇报重点</a:t>
            </a:r>
            <a:endParaRPr lang="en-US" sz="1100"/>
          </a:p>
        </p:txBody>
      </p:sp>
      <p:sp>
        <p:nvSpPr>
          <p:cNvPr name="AutoShape 18" id="18"/>
          <p:cNvSpPr/>
          <p:nvPr/>
        </p:nvSpPr>
        <p:spPr>
          <a:xfrm rot="0" flipH="false" flipV="false">
            <a:off x="8509000" y="2286000"/>
            <a:ext cx="25400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5A5A5A"/>
                </a:solidFill>
                <a:latin typeface="Noto Serif SC"/>
                <a:ea typeface="Noto Serif SC"/>
                <a:cs typeface="Noto Serif SC"/>
                <a:sym typeface="Noto Serif SC"/>
              </a:rPr>
              <a:t>结题阶段</a:t>
            </a:r>
            <a:endParaRPr lang="en-US" sz="1100"/>
          </a:p>
        </p:txBody>
      </p:sp>
      <p:sp>
        <p:nvSpPr>
          <p:cNvPr name="AutoShape 19" id="19"/>
          <p:cNvSpPr/>
          <p:nvPr/>
        </p:nvSpPr>
        <p:spPr>
          <a:xfrm rot="0" flipH="false" flipV="false">
            <a:off x="8636000" y="2667000"/>
            <a:ext cx="2286000" cy="711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6666"/>
              </a:lnSpc>
              <a:defRPr/>
            </a:pPr>
            <a:r>
              <a:rPr lang="en-US" b="false" i="false" strike="noStrike" u="none" sz="1100">
                <a:solidFill>
                  <a:srgbClr val="787878"/>
                </a:solidFill>
                <a:latin typeface="Noto Serif SC"/>
                <a:ea typeface="Noto Serif SC"/>
                <a:cs typeface="Noto Serif SC"/>
                <a:sym typeface="Noto Serif SC"/>
              </a:rPr>
              <a:t>系统集成　实物验证</a:t>
            </a:r>
            <a:endParaRPr lang="en-US" sz="1100"/>
          </a:p>
          <a:p>
            <a:pPr algn="ctr" marL="0" indent="0">
              <a:lnSpc>
                <a:spcPct val="116666"/>
              </a:lnSpc>
            </a:pPr>
            <a:r>
              <a:rPr lang="en-US" b="false" i="false" strike="noStrike" u="none" sz="1100">
                <a:solidFill>
                  <a:srgbClr val="787878"/>
                </a:solidFill>
                <a:latin typeface="Noto Serif SC"/>
                <a:ea typeface="Noto Serif SC"/>
                <a:cs typeface="Noto Serif SC"/>
                <a:sym typeface="Noto Serif SC"/>
              </a:rPr>
              <a:t>论文撰写　答辩</a:t>
            </a:r>
          </a:p>
        </p:txBody>
      </p:sp>
      <p:sp>
        <p:nvSpPr>
          <p:cNvPr name="AutoShape 20" id="20"/>
          <p:cNvSpPr/>
          <p:nvPr/>
        </p:nvSpPr>
        <p:spPr>
          <a:xfrm rot="0" flipH="false" flipV="false">
            <a:off x="9626600" y="3403600"/>
            <a:ext cx="304800" cy="304800"/>
          </a:xfrm>
          <a:prstGeom prst="ellipse">
            <a:avLst/>
          </a:prstGeom>
          <a:solidFill>
            <a:srgbClr val="F5F3EE">
              <a:alpha val="100000"/>
            </a:srgbClr>
          </a:solidFill>
          <a:ln w="25400" cmpd="sng" cap="flat">
            <a:solidFill>
              <a:srgbClr val="969696">
                <a:alpha val="10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509000" y="3810000"/>
            <a:ext cx="25400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000">
                <a:solidFill>
                  <a:srgbClr val="969696"/>
                </a:solidFill>
                <a:latin typeface="Noto Serif SC"/>
                <a:ea typeface="Noto Serif SC"/>
                <a:cs typeface="Noto Serif SC"/>
                <a:sym typeface="Noto Serif SC"/>
              </a:rPr>
              <a:t>待开展</a:t>
            </a:r>
            <a:endParaRPr lang="en-US" sz="1100"/>
          </a:p>
        </p:txBody>
      </p:sp>
      <p:cxnSp>
        <p:nvCxnSpPr>
          <p:cNvPr name="Connector 22" id="22"/>
          <p:cNvCxnSpPr/>
          <p:nvPr/>
        </p:nvCxnSpPr>
        <p:spPr>
          <a:xfrm rot="-4297" flipH="false" flipV="false">
            <a:off x="1016004" y="4819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23" id="23"/>
          <p:cNvSpPr/>
          <p:nvPr/>
        </p:nvSpPr>
        <p:spPr>
          <a:xfrm rot="0" flipH="false" flipV="false">
            <a:off x="1016000" y="5003800"/>
            <a:ext cx="965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11111"/>
                </a:solidFill>
                <a:latin typeface="Noto Serif SC"/>
                <a:ea typeface="Noto Serif SC"/>
                <a:cs typeface="Noto Serif SC"/>
                <a:sym typeface="Noto Serif SC"/>
              </a:rPr>
              <a:t>已完成工作清单</a:t>
            </a:r>
            <a:endParaRPr lang="en-US" sz="1100"/>
          </a:p>
        </p:txBody>
      </p:sp>
      <p:sp>
        <p:nvSpPr>
          <p:cNvPr name="AutoShape 24" id="24"/>
          <p:cNvSpPr/>
          <p:nvPr/>
        </p:nvSpPr>
        <p:spPr>
          <a:xfrm rot="0" flipH="false" flipV="false">
            <a:off x="1016000" y="5384800"/>
            <a:ext cx="482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200">
                <a:solidFill>
                  <a:srgbClr val="383838"/>
                </a:solidFill>
                <a:latin typeface="Noto Serif SC"/>
                <a:ea typeface="Noto Serif SC"/>
                <a:cs typeface="Noto Serif SC"/>
                <a:sym typeface="Noto Serif SC"/>
              </a:rPr>
              <a:t>· 分拣工件数据集采集与标注</a:t>
            </a:r>
            <a:endParaRPr lang="en-US" sz="1100"/>
          </a:p>
          <a:p>
            <a:pPr algn="l" marL="0" indent="0">
              <a:lnSpc>
                <a:spcPct val="133333"/>
              </a:lnSpc>
            </a:pPr>
            <a:r>
              <a:rPr lang="en-US" b="false" i="false" strike="noStrike" u="none" sz="1200">
                <a:solidFill>
                  <a:srgbClr val="383838"/>
                </a:solidFill>
                <a:latin typeface="Noto Serif SC"/>
                <a:ea typeface="Noto Serif SC"/>
                <a:cs typeface="Noto Serif SC"/>
                <a:sym typeface="Noto Serif SC"/>
              </a:rPr>
              <a:t>· 目标检测与位姿估计模型搭建训练</a:t>
            </a:r>
          </a:p>
        </p:txBody>
      </p:sp>
      <p:sp>
        <p:nvSpPr>
          <p:cNvPr name="AutoShape 25" id="25"/>
          <p:cNvSpPr/>
          <p:nvPr/>
        </p:nvSpPr>
        <p:spPr>
          <a:xfrm rot="0" flipH="false" flipV="false">
            <a:off x="6223000" y="5384800"/>
            <a:ext cx="482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200">
                <a:solidFill>
                  <a:srgbClr val="383838"/>
                </a:solidFill>
                <a:latin typeface="Noto Serif SC"/>
                <a:ea typeface="Noto Serif SC"/>
                <a:cs typeface="Noto Serif SC"/>
                <a:sym typeface="Noto Serif SC"/>
              </a:rPr>
              <a:t>· 改进路径规划算法设计与仿真</a:t>
            </a:r>
            <a:endParaRPr lang="en-US" sz="1100"/>
          </a:p>
          <a:p>
            <a:pPr algn="l" marL="0" indent="0">
              <a:lnSpc>
                <a:spcPct val="133333"/>
              </a:lnSpc>
            </a:pPr>
            <a:r>
              <a:rPr lang="en-US" b="false" i="false" strike="noStrike" u="none" sz="1200">
                <a:solidFill>
                  <a:srgbClr val="383838"/>
                </a:solidFill>
                <a:latin typeface="Noto Serif SC"/>
                <a:ea typeface="Noto Serif SC"/>
                <a:cs typeface="Noto Serif SC"/>
                <a:sym typeface="Noto Serif SC"/>
              </a:rPr>
              <a:t>· 对比实验平台搭建与初步验证</a:t>
            </a:r>
          </a:p>
        </p:txBody>
      </p:sp>
      <p:cxnSp>
        <p:nvCxnSpPr>
          <p:cNvPr name="Connector 26" id="26"/>
          <p:cNvCxnSpPr/>
          <p:nvPr/>
        </p:nvCxnSpPr>
        <p:spPr>
          <a:xfrm rot="-4297" flipH="false" flipV="false">
            <a:off x="1016004" y="6216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27" id="27"/>
          <p:cNvSpPr/>
          <p:nvPr/>
        </p:nvSpPr>
        <p:spPr>
          <a:xfrm rot="0" flipH="false" flipV="false">
            <a:off x="1016000" y="6324600"/>
            <a:ext cx="635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900">
                <a:solidFill>
                  <a:srgbClr val="969696"/>
                </a:solidFill>
                <a:latin typeface="Noto Serif SC"/>
                <a:ea typeface="Noto Serif SC"/>
                <a:cs typeface="Noto Serif SC"/>
                <a:sym typeface="Noto Serif SC"/>
              </a:rPr>
              <a:t>基于深度学习和改进路径规划的机械臂分拣系统研究</a:t>
            </a:r>
            <a:endParaRPr lang="en-US" sz="1100"/>
          </a:p>
        </p:txBody>
      </p:sp>
      <p:sp>
        <p:nvSpPr>
          <p:cNvPr name="AutoShape 28" id="28"/>
          <p:cNvSpPr/>
          <p:nvPr/>
        </p:nvSpPr>
        <p:spPr>
          <a:xfrm rot="0" flipH="false" flipV="false">
            <a:off x="10160000" y="6324600"/>
            <a:ext cx="1016000" cy="2286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900">
                <a:solidFill>
                  <a:srgbClr val="969696"/>
                </a:solidFill>
                <a:latin typeface="Noto Serif SC"/>
                <a:ea typeface="Noto Serif SC"/>
                <a:cs typeface="Noto Serif SC"/>
                <a:sym typeface="Noto Serif SC"/>
              </a:rPr>
              <a:t>06</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5F3EE">
            <a:alpha val="100000"/>
          </a:srgbClr>
        </a:solidFill>
      </p:bgPr>
    </p:bg>
    <p:spTree>
      <p:nvGrpSpPr>
        <p:cNvPr id="1" name=""/>
        <p:cNvGrpSpPr/>
        <p:nvPr/>
      </p:nvGrpSpPr>
      <p:grpSpPr>
        <a:xfrm>
          <a:off x="0" y="0"/>
          <a:ext cx="0" cy="0"/>
          <a:chOff x="0" y="0"/>
          <a:chExt cx="0" cy="0"/>
        </a:xfrm>
      </p:grpSpPr>
      <p:cxnSp>
        <p:nvCxnSpPr>
          <p:cNvPr name="Connector 2" id="2"/>
          <p:cNvCxnSpPr/>
          <p:nvPr/>
        </p:nvCxnSpPr>
        <p:spPr>
          <a:xfrm rot="-4297" flipH="false" flipV="false">
            <a:off x="1016004" y="552450"/>
            <a:ext cx="10160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3" id="3"/>
          <p:cNvSpPr/>
          <p:nvPr/>
        </p:nvSpPr>
        <p:spPr>
          <a:xfrm rot="0" flipH="false" flipV="false">
            <a:off x="1016000" y="330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787878"/>
                </a:solidFill>
                <a:latin typeface="Noto Serif SC"/>
                <a:ea typeface="Noto Serif SC"/>
                <a:cs typeface="Noto Serif SC"/>
                <a:sym typeface="Noto Serif SC"/>
              </a:rPr>
              <a:t>03　已完成的研究工作 · 7.1</a:t>
            </a:r>
            <a:endParaRPr lang="en-US" sz="1100"/>
          </a:p>
        </p:txBody>
      </p:sp>
      <p:sp>
        <p:nvSpPr>
          <p:cNvPr name="AutoShape 4" id="4"/>
          <p:cNvSpPr/>
          <p:nvPr/>
        </p:nvSpPr>
        <p:spPr>
          <a:xfrm rot="0" flipH="false" flipV="false">
            <a:off x="1016000" y="762000"/>
            <a:ext cx="965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11111"/>
                </a:solidFill>
                <a:latin typeface="Noto Serif SC"/>
                <a:ea typeface="Noto Serif SC"/>
                <a:cs typeface="Noto Serif SC"/>
                <a:sym typeface="Noto Serif SC"/>
              </a:rPr>
              <a:t>基于深度学习的目标识别与位姿估计</a:t>
            </a:r>
            <a:endParaRPr lang="en-US" sz="1100"/>
          </a:p>
        </p:txBody>
      </p:sp>
      <p:cxnSp>
        <p:nvCxnSpPr>
          <p:cNvPr name="Connector 5" id="5"/>
          <p:cNvCxnSpPr/>
          <p:nvPr/>
        </p:nvCxnSpPr>
        <p:spPr>
          <a:xfrm rot="-57290" flipH="false" flipV="false">
            <a:off x="1016053" y="1416050"/>
            <a:ext cx="7620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none" w="lg" len="lg"/>
          </a:ln>
        </p:spPr>
      </p:cxnSp>
      <p:sp>
        <p:nvSpPr>
          <p:cNvPr name="AutoShape 6" id="6"/>
          <p:cNvSpPr/>
          <p:nvPr/>
        </p:nvSpPr>
        <p:spPr>
          <a:xfrm rot="0" flipH="false" flipV="false">
            <a:off x="1016000" y="1752600"/>
            <a:ext cx="482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2FA7"/>
                </a:solidFill>
                <a:latin typeface="Noto Serif SC"/>
                <a:ea typeface="Noto Serif SC"/>
                <a:cs typeface="Noto Serif SC"/>
                <a:sym typeface="Noto Serif SC"/>
              </a:rPr>
              <a:t>主要完成工作</a:t>
            </a:r>
            <a:endParaRPr lang="en-US" sz="1100"/>
          </a:p>
        </p:txBody>
      </p:sp>
      <p:sp>
        <p:nvSpPr>
          <p:cNvPr name="AutoShape 7" id="7"/>
          <p:cNvSpPr/>
          <p:nvPr/>
        </p:nvSpPr>
        <p:spPr>
          <a:xfrm rot="0" flipH="false" flipV="false">
            <a:off x="1016000" y="2184400"/>
            <a:ext cx="38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02FA7"/>
                </a:solidFill>
                <a:latin typeface="Noto Serif SC"/>
                <a:ea typeface="Noto Serif SC"/>
                <a:cs typeface="Noto Serif SC"/>
                <a:sym typeface="Noto Serif SC"/>
              </a:rPr>
              <a:t>①</a:t>
            </a:r>
            <a:endParaRPr lang="en-US" sz="1100"/>
          </a:p>
        </p:txBody>
      </p:sp>
      <p:sp>
        <p:nvSpPr>
          <p:cNvPr name="AutoShape 8" id="8"/>
          <p:cNvSpPr/>
          <p:nvPr/>
        </p:nvSpPr>
        <p:spPr>
          <a:xfrm rot="0" flipH="false" flipV="false">
            <a:off x="1371600" y="2184400"/>
            <a:ext cx="444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11111"/>
                </a:solidFill>
                <a:latin typeface="Noto Serif SC"/>
                <a:ea typeface="Noto Serif SC"/>
                <a:cs typeface="Noto Serif SC"/>
                <a:sym typeface="Noto Serif SC"/>
              </a:rPr>
              <a:t>数据集构建与标注</a:t>
            </a:r>
            <a:endParaRPr lang="en-US" sz="1100"/>
          </a:p>
        </p:txBody>
      </p:sp>
      <p:sp>
        <p:nvSpPr>
          <p:cNvPr name="AutoShape 9" id="9"/>
          <p:cNvSpPr/>
          <p:nvPr/>
        </p:nvSpPr>
        <p:spPr>
          <a:xfrm rot="0" flipH="false" flipV="false">
            <a:off x="1371600" y="2514600"/>
            <a:ext cx="4445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100">
                <a:solidFill>
                  <a:srgbClr val="5A5A5A"/>
                </a:solidFill>
                <a:latin typeface="Noto Serif SC"/>
                <a:ea typeface="Noto Serif SC"/>
                <a:cs typeface="Noto Serif SC"/>
                <a:sym typeface="Noto Serif SC"/>
              </a:rPr>
              <a:t>采集分拣工件 RGB-D 图像与点云，完成类别标注与 6D 位姿标注，构建训练 / 验证 / 测试集。</a:t>
            </a:r>
            <a:endParaRPr lang="en-US" sz="1100"/>
          </a:p>
        </p:txBody>
      </p:sp>
      <p:sp>
        <p:nvSpPr>
          <p:cNvPr name="AutoShape 10" id="10"/>
          <p:cNvSpPr/>
          <p:nvPr/>
        </p:nvSpPr>
        <p:spPr>
          <a:xfrm rot="0" flipH="false" flipV="false">
            <a:off x="1016000" y="3200400"/>
            <a:ext cx="38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02FA7"/>
                </a:solidFill>
                <a:latin typeface="Noto Serif SC"/>
                <a:ea typeface="Noto Serif SC"/>
                <a:cs typeface="Noto Serif SC"/>
                <a:sym typeface="Noto Serif SC"/>
              </a:rPr>
              <a:t>②</a:t>
            </a:r>
            <a:endParaRPr lang="en-US" sz="1100"/>
          </a:p>
        </p:txBody>
      </p:sp>
      <p:sp>
        <p:nvSpPr>
          <p:cNvPr name="AutoShape 11" id="11"/>
          <p:cNvSpPr/>
          <p:nvPr/>
        </p:nvSpPr>
        <p:spPr>
          <a:xfrm rot="0" flipH="false" flipV="false">
            <a:off x="1371600" y="3200400"/>
            <a:ext cx="444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11111"/>
                </a:solidFill>
                <a:latin typeface="Noto Serif SC"/>
                <a:ea typeface="Noto Serif SC"/>
                <a:cs typeface="Noto Serif SC"/>
                <a:sym typeface="Noto Serif SC"/>
              </a:rPr>
              <a:t>改进目标检测网络</a:t>
            </a:r>
            <a:endParaRPr lang="en-US" sz="1100"/>
          </a:p>
        </p:txBody>
      </p:sp>
      <p:sp>
        <p:nvSpPr>
          <p:cNvPr name="AutoShape 12" id="12"/>
          <p:cNvSpPr/>
          <p:nvPr/>
        </p:nvSpPr>
        <p:spPr>
          <a:xfrm rot="0" flipH="false" flipV="false">
            <a:off x="1371600" y="3530600"/>
            <a:ext cx="4445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100">
                <a:solidFill>
                  <a:srgbClr val="5A5A5A"/>
                </a:solidFill>
                <a:latin typeface="Noto Serif SC"/>
                <a:ea typeface="Noto Serif SC"/>
                <a:cs typeface="Noto Serif SC"/>
                <a:sym typeface="Noto Serif SC"/>
              </a:rPr>
              <a:t>以 YOLO 系列为基线，引入轻量注意力机制与多尺度特征融合，提升小目标与遮挡目标检测精度。</a:t>
            </a:r>
            <a:endParaRPr lang="en-US" sz="1100"/>
          </a:p>
        </p:txBody>
      </p:sp>
      <p:sp>
        <p:nvSpPr>
          <p:cNvPr name="AutoShape 13" id="13"/>
          <p:cNvSpPr/>
          <p:nvPr/>
        </p:nvSpPr>
        <p:spPr>
          <a:xfrm rot="0" flipH="false" flipV="false">
            <a:off x="1016000" y="4216400"/>
            <a:ext cx="38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02FA7"/>
                </a:solidFill>
                <a:latin typeface="Noto Serif SC"/>
                <a:ea typeface="Noto Serif SC"/>
                <a:cs typeface="Noto Serif SC"/>
                <a:sym typeface="Noto Serif SC"/>
              </a:rPr>
              <a:t>③</a:t>
            </a:r>
            <a:endParaRPr lang="en-US" sz="1100"/>
          </a:p>
        </p:txBody>
      </p:sp>
      <p:sp>
        <p:nvSpPr>
          <p:cNvPr name="AutoShape 14" id="14"/>
          <p:cNvSpPr/>
          <p:nvPr/>
        </p:nvSpPr>
        <p:spPr>
          <a:xfrm rot="0" flipH="false" flipV="false">
            <a:off x="1371600" y="4216400"/>
            <a:ext cx="444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11111"/>
                </a:solidFill>
                <a:latin typeface="Noto Serif SC"/>
                <a:ea typeface="Noto Serif SC"/>
                <a:cs typeface="Noto Serif SC"/>
                <a:sym typeface="Noto Serif SC"/>
              </a:rPr>
              <a:t>抓取位姿估计</a:t>
            </a:r>
            <a:endParaRPr lang="en-US" sz="1100"/>
          </a:p>
        </p:txBody>
      </p:sp>
      <p:sp>
        <p:nvSpPr>
          <p:cNvPr name="AutoShape 15" id="15"/>
          <p:cNvSpPr/>
          <p:nvPr/>
        </p:nvSpPr>
        <p:spPr>
          <a:xfrm rot="0" flipH="false" flipV="false">
            <a:off x="1371600" y="4546600"/>
            <a:ext cx="4445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100">
                <a:solidFill>
                  <a:srgbClr val="5A5A5A"/>
                </a:solidFill>
                <a:latin typeface="Noto Serif SC"/>
                <a:ea typeface="Noto Serif SC"/>
                <a:cs typeface="Noto Serif SC"/>
                <a:sym typeface="Noto Serif SC"/>
              </a:rPr>
              <a:t>在检测结果基础上估计物体 6D 位姿，结合夹爪尺寸求解可行抓取点与接近方向。</a:t>
            </a:r>
            <a:endParaRPr lang="en-US" sz="1100"/>
          </a:p>
        </p:txBody>
      </p:sp>
      <p:cxnSp>
        <p:nvCxnSpPr>
          <p:cNvPr name="Connector 16" id="16"/>
          <p:cNvCxnSpPr/>
          <p:nvPr/>
        </p:nvCxnSpPr>
        <p:spPr>
          <a:xfrm rot="5388145" flipH="false" flipV="false">
            <a:off x="4508500" y="3740161"/>
            <a:ext cx="3683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17" id="17"/>
          <p:cNvSpPr/>
          <p:nvPr/>
        </p:nvSpPr>
        <p:spPr>
          <a:xfrm rot="0" flipH="false" flipV="false">
            <a:off x="6731000" y="1752600"/>
            <a:ext cx="444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2FA7"/>
                </a:solidFill>
                <a:latin typeface="Noto Serif SC"/>
                <a:ea typeface="Noto Serif SC"/>
                <a:cs typeface="Noto Serif SC"/>
                <a:sym typeface="Noto Serif SC"/>
              </a:rPr>
              <a:t>初步训练结果</a:t>
            </a:r>
            <a:endParaRPr lang="en-US" sz="1100"/>
          </a:p>
        </p:txBody>
      </p:sp>
      <p:graphicFrame>
        <p:nvGraphicFramePr>
          <p:cNvPr name="Table 18" id="18"/>
          <p:cNvGraphicFramePr>
            <a:graphicFrameLocks noGrp="true"/>
          </p:cNvGraphicFramePr>
          <p:nvPr/>
        </p:nvGraphicFramePr>
        <p:xfrm>
          <a:off x="6731000" y="2235200"/>
          <a:ext cx="4445000" cy="1905000"/>
        </p:xfrm>
        <a:graphic>
          <a:graphicData uri="http://schemas.openxmlformats.org/drawingml/2006/table">
            <a:tbl>
              <a:tblPr>
                <a:effectLst/>
              </a:tblPr>
              <a:tblGrid>
                <a:gridCol w="1905000"/>
                <a:gridCol w="1270000"/>
                <a:gridCol w="1270000"/>
              </a:tblGrid>
              <a:tr h="495300">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指标</a:t>
                      </a:r>
                      <a:endParaRPr lang="en-US" sz="1100"/>
                    </a:p>
                  </a:txBody>
                  <a:tcPr anchor="ctr" anchorCtr="false" marL="101600" marR="101600" marT="101600" marB="101600">
                    <a:lnL>
                      <a:noFill/>
                    </a:lnL>
                    <a:lnR>
                      <a:noFill/>
                    </a:lnR>
                    <a:lnT>
                      <a:noFill/>
                    </a:lnT>
                    <a:lnB>
                      <a:noFill/>
                    </a:lnB>
                    <a:solidFill>
                      <a:srgbClr val="002FA7">
                        <a:alpha val="100000"/>
                      </a:srgbClr>
                    </a:solidFill>
                  </a:tcPr>
                </a:tc>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基线模型</a:t>
                      </a:r>
                      <a:endParaRPr lang="en-US" sz="1100"/>
                    </a:p>
                  </a:txBody>
                  <a:tcPr anchor="ctr" anchorCtr="false" marL="101600" marR="101600" marT="101600" marB="101600">
                    <a:lnL>
                      <a:noFill/>
                    </a:lnL>
                    <a:lnR>
                      <a:noFill/>
                    </a:lnR>
                    <a:lnT>
                      <a:noFill/>
                    </a:lnT>
                    <a:lnB>
                      <a:noFill/>
                    </a:lnB>
                    <a:solidFill>
                      <a:srgbClr val="002FA7">
                        <a:alpha val="100000"/>
                      </a:srgbClr>
                    </a:solidFill>
                  </a:tcPr>
                </a:tc>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改进模型</a:t>
                      </a:r>
                      <a:endParaRPr lang="en-US" sz="1100"/>
                    </a:p>
                  </a:txBody>
                  <a:tcPr anchor="ctr" anchorCtr="false" marL="101600" marR="101600" marT="101600" marB="101600">
                    <a:lnL>
                      <a:noFill/>
                    </a:lnL>
                    <a:lnR>
                      <a:noFill/>
                    </a:lnR>
                    <a:lnT>
                      <a:noFill/>
                    </a:lnT>
                    <a:lnB>
                      <a:noFill/>
                    </a:lnB>
                    <a:solidFill>
                      <a:srgbClr val="002FA7">
                        <a:alpha val="100000"/>
                      </a:srgbClr>
                    </a:solidFill>
                  </a:tcPr>
                </a:tc>
              </a:tr>
              <a:tr h="469900">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mAP@0.5</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1F2329"/>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true" i="false" strike="noStrike" u="none" sz="1100">
                          <a:solidFill>
                            <a:srgbClr val="002FA7"/>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r>
              <a:tr h="469900">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推理速度 (FPS)</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1F2329"/>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true" i="false" strike="noStrike" u="none" sz="1100">
                          <a:solidFill>
                            <a:srgbClr val="002FA7"/>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r>
              <a:tr h="469900">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位姿估计误差</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1F2329"/>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true" i="false" strike="noStrike" u="none" sz="1100">
                          <a:solidFill>
                            <a:srgbClr val="002FA7"/>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r>
            </a:tbl>
          </a:graphicData>
        </a:graphic>
      </p:graphicFrame>
      <p:sp>
        <p:nvSpPr>
          <p:cNvPr name="AutoShape 19" id="19"/>
          <p:cNvSpPr/>
          <p:nvPr/>
        </p:nvSpPr>
        <p:spPr>
          <a:xfrm rot="0" flipH="false" flipV="false">
            <a:off x="6731000" y="4394200"/>
            <a:ext cx="4445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000">
                <a:solidFill>
                  <a:srgbClr val="828282"/>
                </a:solidFill>
                <a:latin typeface="Noto Serif SC"/>
                <a:ea typeface="Noto Serif SC"/>
                <a:cs typeface="Noto Serif SC"/>
                <a:sym typeface="Noto Serif SC"/>
              </a:rPr>
              <a:t>注：上表数值为占位，正式答辩前替换为真实训练结果；建议附检测 / 位姿估计可视化效果图。</a:t>
            </a:r>
            <a:endParaRPr lang="en-US" sz="1100"/>
          </a:p>
        </p:txBody>
      </p:sp>
      <p:cxnSp>
        <p:nvCxnSpPr>
          <p:cNvPr name="Connector 20" id="20"/>
          <p:cNvCxnSpPr/>
          <p:nvPr/>
        </p:nvCxnSpPr>
        <p:spPr>
          <a:xfrm rot="-4297" flipH="false" flipV="false">
            <a:off x="1016004" y="6216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21" id="21"/>
          <p:cNvSpPr/>
          <p:nvPr/>
        </p:nvSpPr>
        <p:spPr>
          <a:xfrm rot="0" flipH="false" flipV="false">
            <a:off x="1016000" y="6324600"/>
            <a:ext cx="635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900">
                <a:solidFill>
                  <a:srgbClr val="969696"/>
                </a:solidFill>
                <a:latin typeface="Noto Serif SC"/>
                <a:ea typeface="Noto Serif SC"/>
                <a:cs typeface="Noto Serif SC"/>
                <a:sym typeface="Noto Serif SC"/>
              </a:rPr>
              <a:t>基于深度学习和改进路径规划的机械臂分拣系统研究</a:t>
            </a:r>
            <a:endParaRPr lang="en-US" sz="1100"/>
          </a:p>
        </p:txBody>
      </p:sp>
      <p:sp>
        <p:nvSpPr>
          <p:cNvPr name="AutoShape 22" id="22"/>
          <p:cNvSpPr/>
          <p:nvPr/>
        </p:nvSpPr>
        <p:spPr>
          <a:xfrm rot="0" flipH="false" flipV="false">
            <a:off x="10160000" y="6324600"/>
            <a:ext cx="1016000" cy="2286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900">
                <a:solidFill>
                  <a:srgbClr val="969696"/>
                </a:solidFill>
                <a:latin typeface="Noto Serif SC"/>
                <a:ea typeface="Noto Serif SC"/>
                <a:cs typeface="Noto Serif SC"/>
                <a:sym typeface="Noto Serif SC"/>
              </a:rPr>
              <a:t>07</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5F3EE">
            <a:alpha val="100000"/>
          </a:srgbClr>
        </a:solidFill>
      </p:bgPr>
    </p:bg>
    <p:spTree>
      <p:nvGrpSpPr>
        <p:cNvPr id="1" name=""/>
        <p:cNvGrpSpPr/>
        <p:nvPr/>
      </p:nvGrpSpPr>
      <p:grpSpPr>
        <a:xfrm>
          <a:off x="0" y="0"/>
          <a:ext cx="0" cy="0"/>
          <a:chOff x="0" y="0"/>
          <a:chExt cx="0" cy="0"/>
        </a:xfrm>
      </p:grpSpPr>
      <p:cxnSp>
        <p:nvCxnSpPr>
          <p:cNvPr name="Connector 2" id="2"/>
          <p:cNvCxnSpPr/>
          <p:nvPr/>
        </p:nvCxnSpPr>
        <p:spPr>
          <a:xfrm rot="-4297" flipH="false" flipV="false">
            <a:off x="1016004" y="552450"/>
            <a:ext cx="10160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3" id="3"/>
          <p:cNvSpPr/>
          <p:nvPr/>
        </p:nvSpPr>
        <p:spPr>
          <a:xfrm rot="0" flipH="false" flipV="false">
            <a:off x="1016000" y="330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787878"/>
                </a:solidFill>
                <a:latin typeface="Noto Serif SC"/>
                <a:ea typeface="Noto Serif SC"/>
                <a:cs typeface="Noto Serif SC"/>
                <a:sym typeface="Noto Serif SC"/>
              </a:rPr>
              <a:t>03　已完成的研究工作 · 7.2</a:t>
            </a:r>
            <a:endParaRPr lang="en-US" sz="1100"/>
          </a:p>
        </p:txBody>
      </p:sp>
      <p:sp>
        <p:nvSpPr>
          <p:cNvPr name="AutoShape 4" id="4"/>
          <p:cNvSpPr/>
          <p:nvPr/>
        </p:nvSpPr>
        <p:spPr>
          <a:xfrm rot="0" flipH="false" flipV="false">
            <a:off x="1016000" y="762000"/>
            <a:ext cx="965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11111"/>
                </a:solidFill>
                <a:latin typeface="Noto Serif SC"/>
                <a:ea typeface="Noto Serif SC"/>
                <a:cs typeface="Noto Serif SC"/>
                <a:sym typeface="Noto Serif SC"/>
              </a:rPr>
              <a:t>改进机械臂路径规划算法</a:t>
            </a:r>
            <a:endParaRPr lang="en-US" sz="1100"/>
          </a:p>
        </p:txBody>
      </p:sp>
      <p:cxnSp>
        <p:nvCxnSpPr>
          <p:cNvPr name="Connector 5" id="5"/>
          <p:cNvCxnSpPr/>
          <p:nvPr/>
        </p:nvCxnSpPr>
        <p:spPr>
          <a:xfrm rot="-57290" flipH="false" flipV="false">
            <a:off x="1016053" y="1416050"/>
            <a:ext cx="7620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none" w="lg" len="lg"/>
          </a:ln>
        </p:spPr>
      </p:cxnSp>
      <p:sp>
        <p:nvSpPr>
          <p:cNvPr name="AutoShape 6" id="6"/>
          <p:cNvSpPr/>
          <p:nvPr/>
        </p:nvSpPr>
        <p:spPr>
          <a:xfrm rot="0" flipH="false" flipV="false">
            <a:off x="1016000" y="1778000"/>
            <a:ext cx="457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2FA7"/>
                </a:solidFill>
                <a:latin typeface="Noto Serif SC"/>
                <a:ea typeface="Noto Serif SC"/>
                <a:cs typeface="Noto Serif SC"/>
                <a:sym typeface="Noto Serif SC"/>
              </a:rPr>
              <a:t>基线算法与存在问题</a:t>
            </a:r>
            <a:endParaRPr lang="en-US" sz="1100"/>
          </a:p>
        </p:txBody>
      </p:sp>
      <p:sp>
        <p:nvSpPr>
          <p:cNvPr name="AutoShape 7" id="7"/>
          <p:cNvSpPr/>
          <p:nvPr/>
        </p:nvSpPr>
        <p:spPr>
          <a:xfrm rot="0" flipH="false" flipV="false">
            <a:off x="1016000" y="2209800"/>
            <a:ext cx="457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383838"/>
                </a:solidFill>
                <a:latin typeface="Noto Serif SC"/>
                <a:ea typeface="Noto Serif SC"/>
                <a:cs typeface="Noto Serif SC"/>
                <a:sym typeface="Noto Serif SC"/>
              </a:rPr>
              <a:t>选取 RRT* 作为基线。其在机械臂高维构型空间中具备概率完备性，但直接应用于分拣任务存在以下不足：</a:t>
            </a:r>
            <a:endParaRPr lang="en-US" sz="1100"/>
          </a:p>
        </p:txBody>
      </p:sp>
      <p:sp>
        <p:nvSpPr>
          <p:cNvPr name="AutoShape 8" id="8"/>
          <p:cNvSpPr/>
          <p:nvPr/>
        </p:nvSpPr>
        <p:spPr>
          <a:xfrm rot="0" flipH="false" flipV="false">
            <a:off x="1016000" y="2946400"/>
            <a:ext cx="4572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41666"/>
              </a:lnSpc>
              <a:defRPr/>
            </a:pPr>
            <a:r>
              <a:rPr lang="en-US" b="false" i="false" strike="noStrike" u="none" sz="1200">
                <a:solidFill>
                  <a:srgbClr val="383838"/>
                </a:solidFill>
                <a:latin typeface="Noto Serif SC"/>
                <a:ea typeface="Noto Serif SC"/>
                <a:cs typeface="Noto Serif SC"/>
                <a:sym typeface="Noto Serif SC"/>
              </a:rPr>
              <a:t>· 随机采样导致初始可行解获取慢，规划时间长</a:t>
            </a:r>
            <a:endParaRPr lang="en-US" sz="1100"/>
          </a:p>
          <a:p>
            <a:pPr algn="l" marL="0" indent="0">
              <a:lnSpc>
                <a:spcPct val="141666"/>
              </a:lnSpc>
            </a:pPr>
            <a:r>
              <a:rPr lang="en-US" b="false" i="false" strike="noStrike" u="none" sz="1200">
                <a:solidFill>
                  <a:srgbClr val="383838"/>
                </a:solidFill>
                <a:latin typeface="Noto Serif SC"/>
                <a:ea typeface="Noto Serif SC"/>
                <a:cs typeface="Noto Serif SC"/>
                <a:sym typeface="Noto Serif SC"/>
              </a:rPr>
              <a:t>· 路径含冗余节点，转折多、不平滑</a:t>
            </a:r>
          </a:p>
          <a:p>
            <a:pPr algn="l" marL="0" indent="0">
              <a:lnSpc>
                <a:spcPct val="141666"/>
              </a:lnSpc>
            </a:pPr>
            <a:r>
              <a:rPr lang="en-US" b="false" i="false" strike="noStrike" u="none" sz="1200">
                <a:solidFill>
                  <a:srgbClr val="383838"/>
                </a:solidFill>
                <a:latin typeface="Noto Serif SC"/>
                <a:ea typeface="Noto Serif SC"/>
                <a:cs typeface="Noto Serif SC"/>
                <a:sym typeface="Noto Serif SC"/>
              </a:rPr>
              <a:t>· 仅以路径长度为代价，未考虑碰撞风险与执行效率</a:t>
            </a:r>
          </a:p>
        </p:txBody>
      </p:sp>
      <p:cxnSp>
        <p:nvCxnSpPr>
          <p:cNvPr name="Connector 9" id="9"/>
          <p:cNvCxnSpPr/>
          <p:nvPr/>
        </p:nvCxnSpPr>
        <p:spPr>
          <a:xfrm rot="5387722" flipH="false" flipV="false">
            <a:off x="4318000" y="3676661"/>
            <a:ext cx="3556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10" id="10"/>
          <p:cNvSpPr/>
          <p:nvPr/>
        </p:nvSpPr>
        <p:spPr>
          <a:xfrm rot="0" flipH="false" flipV="false">
            <a:off x="6477000" y="1778000"/>
            <a:ext cx="4699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2FA7"/>
                </a:solidFill>
                <a:latin typeface="Noto Serif SC"/>
                <a:ea typeface="Noto Serif SC"/>
                <a:cs typeface="Noto Serif SC"/>
                <a:sym typeface="Noto Serif SC"/>
              </a:rPr>
              <a:t>本文改进策略</a:t>
            </a:r>
            <a:endParaRPr lang="en-US" sz="1100"/>
          </a:p>
        </p:txBody>
      </p:sp>
      <p:sp>
        <p:nvSpPr>
          <p:cNvPr name="AutoShape 11" id="11"/>
          <p:cNvSpPr/>
          <p:nvPr/>
        </p:nvSpPr>
        <p:spPr>
          <a:xfrm rot="0" flipH="false" flipV="false">
            <a:off x="6477000" y="2235200"/>
            <a:ext cx="38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02FA7"/>
                </a:solidFill>
                <a:latin typeface="Noto Serif SC"/>
                <a:ea typeface="Noto Serif SC"/>
                <a:cs typeface="Noto Serif SC"/>
                <a:sym typeface="Noto Serif SC"/>
              </a:rPr>
              <a:t>①</a:t>
            </a:r>
            <a:endParaRPr lang="en-US" sz="1100"/>
          </a:p>
        </p:txBody>
      </p:sp>
      <p:sp>
        <p:nvSpPr>
          <p:cNvPr name="AutoShape 12" id="12"/>
          <p:cNvSpPr/>
          <p:nvPr/>
        </p:nvSpPr>
        <p:spPr>
          <a:xfrm rot="0" flipH="false" flipV="false">
            <a:off x="6832600" y="2235200"/>
            <a:ext cx="431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11111"/>
                </a:solidFill>
                <a:latin typeface="Noto Serif SC"/>
                <a:ea typeface="Noto Serif SC"/>
                <a:cs typeface="Noto Serif SC"/>
                <a:sym typeface="Noto Serif SC"/>
              </a:rPr>
              <a:t>目标偏置混合采样</a:t>
            </a:r>
            <a:endParaRPr lang="en-US" sz="1100"/>
          </a:p>
        </p:txBody>
      </p:sp>
      <p:sp>
        <p:nvSpPr>
          <p:cNvPr name="AutoShape 13" id="13"/>
          <p:cNvSpPr/>
          <p:nvPr/>
        </p:nvSpPr>
        <p:spPr>
          <a:xfrm rot="0" flipH="false" flipV="false">
            <a:off x="6832600" y="2565400"/>
            <a:ext cx="431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100">
                <a:solidFill>
                  <a:srgbClr val="5A5A5A"/>
                </a:solidFill>
                <a:latin typeface="Noto Serif SC"/>
                <a:ea typeface="Noto Serif SC"/>
                <a:cs typeface="Noto Serif SC"/>
                <a:sym typeface="Noto Serif SC"/>
              </a:rPr>
              <a:t>引入目标偏向采样与启发式引导，引导树向目标生长，加速初始可行解收敛。</a:t>
            </a:r>
            <a:endParaRPr lang="en-US" sz="1100"/>
          </a:p>
        </p:txBody>
      </p:sp>
      <p:sp>
        <p:nvSpPr>
          <p:cNvPr name="AutoShape 14" id="14"/>
          <p:cNvSpPr/>
          <p:nvPr/>
        </p:nvSpPr>
        <p:spPr>
          <a:xfrm rot="0" flipH="false" flipV="false">
            <a:off x="6477000" y="3200400"/>
            <a:ext cx="38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02FA7"/>
                </a:solidFill>
                <a:latin typeface="Noto Serif SC"/>
                <a:ea typeface="Noto Serif SC"/>
                <a:cs typeface="Noto Serif SC"/>
                <a:sym typeface="Noto Serif SC"/>
              </a:rPr>
              <a:t>②</a:t>
            </a:r>
            <a:endParaRPr lang="en-US" sz="1100"/>
          </a:p>
        </p:txBody>
      </p:sp>
      <p:sp>
        <p:nvSpPr>
          <p:cNvPr name="AutoShape 15" id="15"/>
          <p:cNvSpPr/>
          <p:nvPr/>
        </p:nvSpPr>
        <p:spPr>
          <a:xfrm rot="0" flipH="false" flipV="false">
            <a:off x="6832600" y="3200400"/>
            <a:ext cx="431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11111"/>
                </a:solidFill>
                <a:latin typeface="Noto Serif SC"/>
                <a:ea typeface="Noto Serif SC"/>
                <a:cs typeface="Noto Serif SC"/>
                <a:sym typeface="Noto Serif SC"/>
              </a:rPr>
              <a:t>综合代价函数</a:t>
            </a:r>
            <a:endParaRPr lang="en-US" sz="1100"/>
          </a:p>
        </p:txBody>
      </p:sp>
      <p:sp>
        <p:nvSpPr>
          <p:cNvPr name="AutoShape 16" id="16"/>
          <p:cNvSpPr/>
          <p:nvPr/>
        </p:nvSpPr>
        <p:spPr>
          <a:xfrm rot="0" flipH="false" flipV="false">
            <a:off x="6832600" y="3530600"/>
            <a:ext cx="431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100">
                <a:solidFill>
                  <a:srgbClr val="5A5A5A"/>
                </a:solidFill>
                <a:latin typeface="Noto Serif SC"/>
                <a:ea typeface="Noto Serif SC"/>
                <a:cs typeface="Noto Serif SC"/>
                <a:sym typeface="Noto Serif SC"/>
              </a:rPr>
              <a:t>融合路径长度、关节运动平滑度与障碍距离，构造综合代价函数优化重选父节点。</a:t>
            </a:r>
            <a:endParaRPr lang="en-US" sz="1100"/>
          </a:p>
        </p:txBody>
      </p:sp>
      <p:sp>
        <p:nvSpPr>
          <p:cNvPr name="AutoShape 17" id="17"/>
          <p:cNvSpPr/>
          <p:nvPr/>
        </p:nvSpPr>
        <p:spPr>
          <a:xfrm rot="0" flipH="false" flipV="false">
            <a:off x="6477000" y="4165600"/>
            <a:ext cx="38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02FA7"/>
                </a:solidFill>
                <a:latin typeface="Noto Serif SC"/>
                <a:ea typeface="Noto Serif SC"/>
                <a:cs typeface="Noto Serif SC"/>
                <a:sym typeface="Noto Serif SC"/>
              </a:rPr>
              <a:t>③</a:t>
            </a:r>
            <a:endParaRPr lang="en-US" sz="1100"/>
          </a:p>
        </p:txBody>
      </p:sp>
      <p:sp>
        <p:nvSpPr>
          <p:cNvPr name="AutoShape 18" id="18"/>
          <p:cNvSpPr/>
          <p:nvPr/>
        </p:nvSpPr>
        <p:spPr>
          <a:xfrm rot="0" flipH="false" flipV="false">
            <a:off x="6832600" y="4165600"/>
            <a:ext cx="431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11111"/>
                </a:solidFill>
                <a:latin typeface="Noto Serif SC"/>
                <a:ea typeface="Noto Serif SC"/>
                <a:cs typeface="Noto Serif SC"/>
                <a:sym typeface="Noto Serif SC"/>
              </a:rPr>
              <a:t>路径剪枝与平滑</a:t>
            </a:r>
            <a:endParaRPr lang="en-US" sz="1100"/>
          </a:p>
        </p:txBody>
      </p:sp>
      <p:sp>
        <p:nvSpPr>
          <p:cNvPr name="AutoShape 19" id="19"/>
          <p:cNvSpPr/>
          <p:nvPr/>
        </p:nvSpPr>
        <p:spPr>
          <a:xfrm rot="0" flipH="false" flipV="false">
            <a:off x="6832600" y="4495800"/>
            <a:ext cx="431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100">
                <a:solidFill>
                  <a:srgbClr val="5A5A5A"/>
                </a:solidFill>
                <a:latin typeface="Noto Serif SC"/>
                <a:ea typeface="Noto Serif SC"/>
                <a:cs typeface="Noto Serif SC"/>
                <a:sym typeface="Noto Serif SC"/>
              </a:rPr>
              <a:t>对规划路径进行冗余节点剪枝，并采用 B 样条插值平滑，生成可直接跟踪的连续轨迹。</a:t>
            </a:r>
            <a:endParaRPr lang="en-US" sz="1100"/>
          </a:p>
        </p:txBody>
      </p:sp>
      <p:cxnSp>
        <p:nvCxnSpPr>
          <p:cNvPr name="Connector 20" id="20"/>
          <p:cNvCxnSpPr/>
          <p:nvPr/>
        </p:nvCxnSpPr>
        <p:spPr>
          <a:xfrm rot="-4297" flipH="false" flipV="false">
            <a:off x="1016004" y="5454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21" id="21"/>
          <p:cNvSpPr/>
          <p:nvPr/>
        </p:nvSpPr>
        <p:spPr>
          <a:xfrm rot="0" flipH="false" flipV="false">
            <a:off x="1016000" y="5638800"/>
            <a:ext cx="1016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002FA7"/>
                </a:solidFill>
                <a:latin typeface="Noto Serif SC"/>
                <a:ea typeface="Noto Serif SC"/>
                <a:cs typeface="Noto Serif SC"/>
                <a:sym typeface="Noto Serif SC"/>
              </a:rPr>
              <a:t>算法流程：</a:t>
            </a:r>
            <a:r>
              <a:rPr lang="en-US" b="false" i="false" strike="noStrike" u="none" sz="1200">
                <a:solidFill>
                  <a:srgbClr val="383838"/>
                </a:solidFill>
                <a:latin typeface="Noto Serif SC"/>
                <a:ea typeface="Noto Serif SC"/>
                <a:cs typeface="Noto Serif SC"/>
                <a:sym typeface="Noto Serif SC"/>
              </a:rPr>
              <a:t>初始化构型树 → 改进采样 → 碰撞检测与最近邻 → 综合代价重选父节点 → 路径剪枝平滑 → 输出最优轨迹</a:t>
            </a:r>
            <a:endParaRPr lang="en-US" sz="1100"/>
          </a:p>
        </p:txBody>
      </p:sp>
      <p:cxnSp>
        <p:nvCxnSpPr>
          <p:cNvPr name="Connector 22" id="22"/>
          <p:cNvCxnSpPr/>
          <p:nvPr/>
        </p:nvCxnSpPr>
        <p:spPr>
          <a:xfrm rot="-4297" flipH="false" flipV="false">
            <a:off x="1016004" y="6216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23" id="23"/>
          <p:cNvSpPr/>
          <p:nvPr/>
        </p:nvSpPr>
        <p:spPr>
          <a:xfrm rot="0" flipH="false" flipV="false">
            <a:off x="1016000" y="6324600"/>
            <a:ext cx="635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900">
                <a:solidFill>
                  <a:srgbClr val="969696"/>
                </a:solidFill>
                <a:latin typeface="Noto Serif SC"/>
                <a:ea typeface="Noto Serif SC"/>
                <a:cs typeface="Noto Serif SC"/>
                <a:sym typeface="Noto Serif SC"/>
              </a:rPr>
              <a:t>基于深度学习和改进路径规划的机械臂分拣系统研究</a:t>
            </a:r>
            <a:endParaRPr lang="en-US" sz="1100"/>
          </a:p>
        </p:txBody>
      </p:sp>
      <p:sp>
        <p:nvSpPr>
          <p:cNvPr name="AutoShape 24" id="24"/>
          <p:cNvSpPr/>
          <p:nvPr/>
        </p:nvSpPr>
        <p:spPr>
          <a:xfrm rot="0" flipH="false" flipV="false">
            <a:off x="10160000" y="6324600"/>
            <a:ext cx="1016000" cy="2286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900">
                <a:solidFill>
                  <a:srgbClr val="969696"/>
                </a:solidFill>
                <a:latin typeface="Noto Serif SC"/>
                <a:ea typeface="Noto Serif SC"/>
                <a:cs typeface="Noto Serif SC"/>
                <a:sym typeface="Noto Serif SC"/>
              </a:rPr>
              <a:t>08</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5F3EE">
            <a:alpha val="100000"/>
          </a:srgbClr>
        </a:solidFill>
      </p:bgPr>
    </p:bg>
    <p:spTree>
      <p:nvGrpSpPr>
        <p:cNvPr id="1" name=""/>
        <p:cNvGrpSpPr/>
        <p:nvPr/>
      </p:nvGrpSpPr>
      <p:grpSpPr>
        <a:xfrm>
          <a:off x="0" y="0"/>
          <a:ext cx="0" cy="0"/>
          <a:chOff x="0" y="0"/>
          <a:chExt cx="0" cy="0"/>
        </a:xfrm>
      </p:grpSpPr>
      <p:cxnSp>
        <p:nvCxnSpPr>
          <p:cNvPr name="Connector 2" id="2"/>
          <p:cNvCxnSpPr/>
          <p:nvPr/>
        </p:nvCxnSpPr>
        <p:spPr>
          <a:xfrm rot="-4297" flipH="false" flipV="false">
            <a:off x="1016004" y="552450"/>
            <a:ext cx="10160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3" id="3"/>
          <p:cNvSpPr/>
          <p:nvPr/>
        </p:nvSpPr>
        <p:spPr>
          <a:xfrm rot="0" flipH="false" flipV="false">
            <a:off x="1016000" y="330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787878"/>
                </a:solidFill>
                <a:latin typeface="Noto Serif SC"/>
                <a:ea typeface="Noto Serif SC"/>
                <a:cs typeface="Noto Serif SC"/>
                <a:sym typeface="Noto Serif SC"/>
              </a:rPr>
              <a:t>04　阶段性实验与结果分析</a:t>
            </a:r>
            <a:endParaRPr lang="en-US" sz="1100"/>
          </a:p>
        </p:txBody>
      </p:sp>
      <p:sp>
        <p:nvSpPr>
          <p:cNvPr name="AutoShape 4" id="4"/>
          <p:cNvSpPr/>
          <p:nvPr/>
        </p:nvSpPr>
        <p:spPr>
          <a:xfrm rot="0" flipH="false" flipV="false">
            <a:off x="1016000" y="762000"/>
            <a:ext cx="965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11111"/>
                </a:solidFill>
                <a:latin typeface="Noto Serif SC"/>
                <a:ea typeface="Noto Serif SC"/>
                <a:cs typeface="Noto Serif SC"/>
                <a:sym typeface="Noto Serif SC"/>
              </a:rPr>
              <a:t>阶段性实验与结果分析</a:t>
            </a:r>
            <a:endParaRPr lang="en-US" sz="1100"/>
          </a:p>
        </p:txBody>
      </p:sp>
      <p:cxnSp>
        <p:nvCxnSpPr>
          <p:cNvPr name="Connector 5" id="5"/>
          <p:cNvCxnSpPr/>
          <p:nvPr/>
        </p:nvCxnSpPr>
        <p:spPr>
          <a:xfrm rot="-57290" flipH="false" flipV="false">
            <a:off x="1016053" y="1416050"/>
            <a:ext cx="7620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none" w="lg" len="lg"/>
          </a:ln>
        </p:spPr>
      </p:cxnSp>
      <p:sp>
        <p:nvSpPr>
          <p:cNvPr name="AutoShape 6" id="6"/>
          <p:cNvSpPr/>
          <p:nvPr/>
        </p:nvSpPr>
        <p:spPr>
          <a:xfrm rot="0" flipH="false" flipV="false">
            <a:off x="1016000" y="1778000"/>
            <a:ext cx="381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2FA7"/>
                </a:solidFill>
                <a:latin typeface="Noto Serif SC"/>
                <a:ea typeface="Noto Serif SC"/>
                <a:cs typeface="Noto Serif SC"/>
                <a:sym typeface="Noto Serif SC"/>
              </a:rPr>
              <a:t>实验设置</a:t>
            </a:r>
            <a:endParaRPr lang="en-US" sz="1100"/>
          </a:p>
        </p:txBody>
      </p:sp>
      <p:sp>
        <p:nvSpPr>
          <p:cNvPr name="AutoShape 7" id="7"/>
          <p:cNvSpPr/>
          <p:nvPr/>
        </p:nvSpPr>
        <p:spPr>
          <a:xfrm rot="0" flipH="false" flipV="false">
            <a:off x="1016000" y="2209800"/>
            <a:ext cx="3810000" cy="254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45833"/>
              </a:lnSpc>
              <a:defRPr/>
            </a:pPr>
            <a:r>
              <a:rPr lang="en-US" b="true" i="false" strike="noStrike" u="none" sz="1200">
                <a:solidFill>
                  <a:srgbClr val="383838"/>
                </a:solidFill>
                <a:latin typeface="Noto Serif SC"/>
                <a:ea typeface="Noto Serif SC"/>
                <a:cs typeface="Noto Serif SC"/>
                <a:sym typeface="Noto Serif SC"/>
              </a:rPr>
              <a:t>仿真平台：</a:t>
            </a:r>
            <a:r>
              <a:rPr lang="en-US" b="false" i="false" strike="noStrike" u="none" sz="1200">
                <a:solidFill>
                  <a:srgbClr val="383838"/>
                </a:solidFill>
                <a:latin typeface="Noto Serif SC"/>
                <a:ea typeface="Noto Serif SC"/>
                <a:cs typeface="Noto Serif SC"/>
                <a:sym typeface="Noto Serif SC"/>
              </a:rPr>
              <a:t>ROS + Gazebo / MoveIt</a:t>
            </a:r>
            <a:endParaRPr lang="en-US" sz="1100"/>
          </a:p>
          <a:p>
            <a:pPr algn="l" marL="0" indent="0">
              <a:lnSpc>
                <a:spcPct val="145833"/>
              </a:lnSpc>
            </a:pPr>
            <a:r>
              <a:rPr lang="en-US" b="true" i="false" strike="noStrike" u="none" sz="1200">
                <a:solidFill>
                  <a:srgbClr val="383838"/>
                </a:solidFill>
                <a:latin typeface="Noto Serif SC"/>
                <a:ea typeface="Noto Serif SC"/>
                <a:cs typeface="Noto Serif SC"/>
                <a:sym typeface="Noto Serif SC"/>
              </a:rPr>
              <a:t>机械臂：</a:t>
            </a:r>
            <a:r>
              <a:rPr lang="en-US" b="false" i="false" strike="noStrike" u="none" sz="1200">
                <a:solidFill>
                  <a:srgbClr val="383838"/>
                </a:solidFill>
                <a:latin typeface="Noto Serif SC"/>
                <a:ea typeface="Noto Serif SC"/>
                <a:cs typeface="Noto Serif SC"/>
                <a:sym typeface="Noto Serif SC"/>
              </a:rPr>
              <a:t>6 自由度工业机械臂</a:t>
            </a:r>
          </a:p>
          <a:p>
            <a:pPr algn="l" marL="0" indent="0">
              <a:lnSpc>
                <a:spcPct val="145833"/>
              </a:lnSpc>
            </a:pPr>
            <a:r>
              <a:rPr lang="en-US" b="true" i="false" strike="noStrike" u="none" sz="1200">
                <a:solidFill>
                  <a:srgbClr val="383838"/>
                </a:solidFill>
                <a:latin typeface="Noto Serif SC"/>
                <a:ea typeface="Noto Serif SC"/>
                <a:cs typeface="Noto Serif SC"/>
                <a:sym typeface="Noto Serif SC"/>
              </a:rPr>
              <a:t>实验场景：</a:t>
            </a:r>
            <a:r>
              <a:rPr lang="en-US" b="false" i="false" strike="noStrike" u="none" sz="1200">
                <a:solidFill>
                  <a:srgbClr val="383838"/>
                </a:solidFill>
                <a:latin typeface="Noto Serif SC"/>
                <a:ea typeface="Noto Serif SC"/>
                <a:cs typeface="Noto Serif SC"/>
                <a:sym typeface="Noto Serif SC"/>
              </a:rPr>
              <a:t>含障碍的分拣工位</a:t>
            </a:r>
          </a:p>
          <a:p>
            <a:pPr algn="l" marL="0" indent="0">
              <a:lnSpc>
                <a:spcPct val="145833"/>
              </a:lnSpc>
            </a:pPr>
            <a:r>
              <a:rPr lang="en-US" b="true" i="false" strike="noStrike" u="none" sz="1200">
                <a:solidFill>
                  <a:srgbClr val="383838"/>
                </a:solidFill>
                <a:latin typeface="Noto Serif SC"/>
                <a:ea typeface="Noto Serif SC"/>
                <a:cs typeface="Noto Serif SC"/>
                <a:sym typeface="Noto Serif SC"/>
              </a:rPr>
              <a:t>对比方法：</a:t>
            </a:r>
            <a:r>
              <a:rPr lang="en-US" b="false" i="false" strike="noStrike" u="none" sz="1200">
                <a:solidFill>
                  <a:srgbClr val="383838"/>
                </a:solidFill>
                <a:latin typeface="Noto Serif SC"/>
                <a:ea typeface="Noto Serif SC"/>
                <a:cs typeface="Noto Serif SC"/>
                <a:sym typeface="Noto Serif SC"/>
              </a:rPr>
              <a:t>RRT*、改进 RRT*</a:t>
            </a:r>
          </a:p>
          <a:p>
            <a:pPr algn="l" marL="0" indent="0">
              <a:lnSpc>
                <a:spcPct val="145833"/>
              </a:lnSpc>
            </a:pPr>
            <a:r>
              <a:rPr lang="en-US" b="true" i="false" strike="noStrike" u="none" sz="1200">
                <a:solidFill>
                  <a:srgbClr val="383838"/>
                </a:solidFill>
                <a:latin typeface="Noto Serif SC"/>
                <a:ea typeface="Noto Serif SC"/>
                <a:cs typeface="Noto Serif SC"/>
                <a:sym typeface="Noto Serif SC"/>
              </a:rPr>
              <a:t>评价指标：</a:t>
            </a:r>
            <a:r>
              <a:rPr lang="en-US" b="false" i="false" strike="noStrike" u="none" sz="1200">
                <a:solidFill>
                  <a:srgbClr val="383838"/>
                </a:solidFill>
                <a:latin typeface="Noto Serif SC"/>
                <a:ea typeface="Noto Serif SC"/>
                <a:cs typeface="Noto Serif SC"/>
                <a:sym typeface="Noto Serif SC"/>
              </a:rPr>
              <a:t>规划时间、路径长度、转折数、成功率</a:t>
            </a:r>
          </a:p>
          <a:p>
            <a:pPr algn="l" marL="0" indent="0">
              <a:lnSpc>
                <a:spcPct val="145833"/>
              </a:lnSpc>
            </a:pPr>
            <a:r>
              <a:rPr lang="en-US" b="true" i="false" strike="noStrike" u="none" sz="1200">
                <a:solidFill>
                  <a:srgbClr val="383838"/>
                </a:solidFill>
                <a:latin typeface="Noto Serif SC"/>
                <a:ea typeface="Noto Serif SC"/>
                <a:cs typeface="Noto Serif SC"/>
                <a:sym typeface="Noto Serif SC"/>
              </a:rPr>
              <a:t>实验次数：</a:t>
            </a:r>
            <a:r>
              <a:rPr lang="en-US" b="false" i="false" strike="noStrike" u="none" sz="1200">
                <a:solidFill>
                  <a:srgbClr val="383838"/>
                </a:solidFill>
                <a:latin typeface="Noto Serif SC"/>
                <a:ea typeface="Noto Serif SC"/>
                <a:cs typeface="Noto Serif SC"/>
                <a:sym typeface="Noto Serif SC"/>
              </a:rPr>
              <a:t>每组 20 次取均值</a:t>
            </a:r>
          </a:p>
        </p:txBody>
      </p:sp>
      <p:cxnSp>
        <p:nvCxnSpPr>
          <p:cNvPr name="Connector 8" id="8"/>
          <p:cNvCxnSpPr/>
          <p:nvPr/>
        </p:nvCxnSpPr>
        <p:spPr>
          <a:xfrm rot="5387722" flipH="false" flipV="false">
            <a:off x="3429000" y="3676661"/>
            <a:ext cx="3556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9" id="9"/>
          <p:cNvSpPr/>
          <p:nvPr/>
        </p:nvSpPr>
        <p:spPr>
          <a:xfrm rot="0" flipH="false" flipV="false">
            <a:off x="5588000" y="1778000"/>
            <a:ext cx="558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2FA7"/>
                </a:solidFill>
                <a:latin typeface="Noto Serif SC"/>
                <a:ea typeface="Noto Serif SC"/>
                <a:cs typeface="Noto Serif SC"/>
                <a:sym typeface="Noto Serif SC"/>
              </a:rPr>
              <a:t>路径规划算法对比（示意数据）</a:t>
            </a:r>
            <a:endParaRPr lang="en-US" sz="1100"/>
          </a:p>
        </p:txBody>
      </p:sp>
      <p:graphicFrame>
        <p:nvGraphicFramePr>
          <p:cNvPr name="Table 10" id="10"/>
          <p:cNvGraphicFramePr>
            <a:graphicFrameLocks noGrp="true"/>
          </p:cNvGraphicFramePr>
          <p:nvPr/>
        </p:nvGraphicFramePr>
        <p:xfrm>
          <a:off x="5588000" y="2260600"/>
          <a:ext cx="5588000" cy="2286000"/>
        </p:xfrm>
        <a:graphic>
          <a:graphicData uri="http://schemas.openxmlformats.org/drawingml/2006/table">
            <a:tbl>
              <a:tblPr>
                <a:effectLst/>
              </a:tblPr>
              <a:tblGrid>
                <a:gridCol w="2159000"/>
                <a:gridCol w="1270000"/>
                <a:gridCol w="1270000"/>
                <a:gridCol w="889000"/>
              </a:tblGrid>
              <a:tr h="482600">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评价指标</a:t>
                      </a:r>
                      <a:endParaRPr lang="en-US" sz="1100"/>
                    </a:p>
                  </a:txBody>
                  <a:tcPr anchor="ctr" anchorCtr="false" marL="101600" marR="101600" marT="101600" marB="101600">
                    <a:lnL>
                      <a:noFill/>
                    </a:lnL>
                    <a:lnR>
                      <a:noFill/>
                    </a:lnR>
                    <a:lnT>
                      <a:noFill/>
                    </a:lnT>
                    <a:lnB>
                      <a:noFill/>
                    </a:lnB>
                    <a:solidFill>
                      <a:srgbClr val="002FA7">
                        <a:alpha val="100000"/>
                      </a:srgbClr>
                    </a:solidFill>
                  </a:tcPr>
                </a:tc>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RRT*</a:t>
                      </a:r>
                      <a:endParaRPr lang="en-US" sz="1100"/>
                    </a:p>
                  </a:txBody>
                  <a:tcPr anchor="ctr" anchorCtr="false" marL="101600" marR="101600" marT="101600" marB="101600">
                    <a:lnL>
                      <a:noFill/>
                    </a:lnL>
                    <a:lnR>
                      <a:noFill/>
                    </a:lnR>
                    <a:lnT>
                      <a:noFill/>
                    </a:lnT>
                    <a:lnB>
                      <a:noFill/>
                    </a:lnB>
                    <a:solidFill>
                      <a:srgbClr val="002FA7">
                        <a:alpha val="100000"/>
                      </a:srgbClr>
                    </a:solidFill>
                  </a:tcPr>
                </a:tc>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改进算法</a:t>
                      </a:r>
                      <a:endParaRPr lang="en-US" sz="1100"/>
                    </a:p>
                  </a:txBody>
                  <a:tcPr anchor="ctr" anchorCtr="false" marL="101600" marR="101600" marT="101600" marB="101600">
                    <a:lnL>
                      <a:noFill/>
                    </a:lnL>
                    <a:lnR>
                      <a:noFill/>
                    </a:lnR>
                    <a:lnT>
                      <a:noFill/>
                    </a:lnT>
                    <a:lnB>
                      <a:noFill/>
                    </a:lnB>
                    <a:solidFill>
                      <a:srgbClr val="002FA7">
                        <a:alpha val="100000"/>
                      </a:srgbClr>
                    </a:solidFill>
                  </a:tcPr>
                </a:tc>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提升</a:t>
                      </a:r>
                      <a:endParaRPr lang="en-US" sz="1100"/>
                    </a:p>
                  </a:txBody>
                  <a:tcPr anchor="ctr" anchorCtr="false" marL="101600" marR="101600" marT="101600" marB="101600">
                    <a:lnL>
                      <a:noFill/>
                    </a:lnL>
                    <a:lnR>
                      <a:noFill/>
                    </a:lnR>
                    <a:lnT>
                      <a:noFill/>
                    </a:lnT>
                    <a:lnB>
                      <a:noFill/>
                    </a:lnB>
                    <a:solidFill>
                      <a:srgbClr val="002FA7">
                        <a:alpha val="100000"/>
                      </a:srgbClr>
                    </a:solidFill>
                  </a:tcPr>
                </a:tc>
              </a:tr>
              <a:tr h="457200">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平均规划时间 (s)</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1F2329"/>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true" i="false" strike="noStrike" u="none" sz="1100">
                          <a:solidFill>
                            <a:srgbClr val="002FA7"/>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002FA7"/>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a:noFill/>
                    </a:lnT>
                    <a:lnB>
                      <a:noFill/>
                    </a:lnB>
                    <a:noFill/>
                  </a:tcPr>
                </a:tc>
              </a:tr>
              <a:tr h="457200">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路径长度</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1F2329"/>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true" i="false" strike="noStrike" u="none" sz="1100">
                          <a:solidFill>
                            <a:srgbClr val="002FA7"/>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002FA7"/>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a:noFill/>
                    </a:lnT>
                    <a:lnB>
                      <a:noFill/>
                    </a:lnB>
                    <a:noFill/>
                  </a:tcPr>
                </a:tc>
              </a:tr>
              <a:tr h="457200">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路径转折数</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1F2329"/>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true" i="false" strike="noStrike" u="none" sz="1100">
                          <a:solidFill>
                            <a:srgbClr val="002FA7"/>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002FA7"/>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a:noFill/>
                    </a:lnT>
                    <a:lnB>
                      <a:noFill/>
                    </a:lnB>
                    <a:noFill/>
                  </a:tcPr>
                </a:tc>
              </a:tr>
              <a:tr h="431800">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规划成功率 (%)</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1F2329"/>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true" i="false" strike="noStrike" u="none" sz="1100">
                          <a:solidFill>
                            <a:srgbClr val="002FA7"/>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002FA7"/>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a:noFill/>
                    </a:lnT>
                    <a:lnB>
                      <a:noFill/>
                    </a:lnB>
                    <a:noFill/>
                  </a:tcPr>
                </a:tc>
              </a:tr>
            </a:tbl>
          </a:graphicData>
        </a:graphic>
      </p:graphicFrame>
      <p:sp>
        <p:nvSpPr>
          <p:cNvPr name="AutoShape 11" id="11"/>
          <p:cNvSpPr/>
          <p:nvPr/>
        </p:nvSpPr>
        <p:spPr>
          <a:xfrm rot="0" flipH="false" flipV="false">
            <a:off x="5588000" y="4775200"/>
            <a:ext cx="5588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828282"/>
                </a:solidFill>
                <a:latin typeface="Noto Serif SC"/>
                <a:ea typeface="Noto Serif SC"/>
                <a:cs typeface="Noto Serif SC"/>
                <a:sym typeface="Noto Serif SC"/>
              </a:rPr>
              <a:t>注：表中数值为占位，正式答辩前替换为真实实验均值。</a:t>
            </a:r>
            <a:endParaRPr lang="en-US" sz="1100"/>
          </a:p>
        </p:txBody>
      </p:sp>
      <p:cxnSp>
        <p:nvCxnSpPr>
          <p:cNvPr name="Connector 12" id="12"/>
          <p:cNvCxnSpPr/>
          <p:nvPr/>
        </p:nvCxnSpPr>
        <p:spPr>
          <a:xfrm rot="-4297" flipH="false" flipV="false">
            <a:off x="1016004" y="5454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13" id="13"/>
          <p:cNvSpPr/>
          <p:nvPr/>
        </p:nvSpPr>
        <p:spPr>
          <a:xfrm rot="0" flipH="false" flipV="false">
            <a:off x="1016000" y="5638800"/>
            <a:ext cx="1016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002FA7"/>
                </a:solidFill>
                <a:latin typeface="Noto Serif SC"/>
                <a:ea typeface="Noto Serif SC"/>
                <a:cs typeface="Noto Serif SC"/>
                <a:sym typeface="Noto Serif SC"/>
              </a:rPr>
              <a:t>初步结论：</a:t>
            </a:r>
            <a:r>
              <a:rPr lang="en-US" b="false" i="false" strike="noStrike" u="none" sz="1200">
                <a:solidFill>
                  <a:srgbClr val="111111"/>
                </a:solidFill>
                <a:latin typeface="Noto Serif SC"/>
                <a:ea typeface="Noto Serif SC"/>
                <a:cs typeface="Noto Serif SC"/>
                <a:sym typeface="Noto Serif SC"/>
              </a:rPr>
              <a:t>改进算法在规划时间、路径长度与转折数上均优于 RRT* 基线，成功率相当或更高，验证了目标偏置采样与综合代价函数的有效性。</a:t>
            </a:r>
            <a:endParaRPr lang="en-US" sz="1100"/>
          </a:p>
        </p:txBody>
      </p:sp>
      <p:cxnSp>
        <p:nvCxnSpPr>
          <p:cNvPr name="Connector 14" id="14"/>
          <p:cNvCxnSpPr/>
          <p:nvPr/>
        </p:nvCxnSpPr>
        <p:spPr>
          <a:xfrm rot="-4297" flipH="false" flipV="false">
            <a:off x="1016004" y="6216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15" id="15"/>
          <p:cNvSpPr/>
          <p:nvPr/>
        </p:nvSpPr>
        <p:spPr>
          <a:xfrm rot="0" flipH="false" flipV="false">
            <a:off x="1016000" y="6324600"/>
            <a:ext cx="635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900">
                <a:solidFill>
                  <a:srgbClr val="969696"/>
                </a:solidFill>
                <a:latin typeface="Noto Serif SC"/>
                <a:ea typeface="Noto Serif SC"/>
                <a:cs typeface="Noto Serif SC"/>
                <a:sym typeface="Noto Serif SC"/>
              </a:rPr>
              <a:t>基于深度学习和改进路径规划的机械臂分拣系统研究</a:t>
            </a:r>
            <a:endParaRPr lang="en-US" sz="1100"/>
          </a:p>
        </p:txBody>
      </p:sp>
      <p:sp>
        <p:nvSpPr>
          <p:cNvPr name="AutoShape 16" id="16"/>
          <p:cNvSpPr/>
          <p:nvPr/>
        </p:nvSpPr>
        <p:spPr>
          <a:xfrm rot="0" flipH="false" flipV="false">
            <a:off x="10160000" y="6324600"/>
            <a:ext cx="1016000" cy="2286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900">
                <a:solidFill>
                  <a:srgbClr val="969696"/>
                </a:solidFill>
                <a:latin typeface="Noto Serif SC"/>
                <a:ea typeface="Noto Serif SC"/>
                <a:cs typeface="Noto Serif SC"/>
                <a:sym typeface="Noto Serif SC"/>
              </a:rPr>
              <a:t>09</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5F3EE">
            <a:alpha val="100000"/>
          </a:srgbClr>
        </a:solidFill>
      </p:bgPr>
    </p:bg>
    <p:spTree>
      <p:nvGrpSpPr>
        <p:cNvPr id="1" name=""/>
        <p:cNvGrpSpPr/>
        <p:nvPr/>
      </p:nvGrpSpPr>
      <p:grpSpPr>
        <a:xfrm>
          <a:off x="0" y="0"/>
          <a:ext cx="0" cy="0"/>
          <a:chOff x="0" y="0"/>
          <a:chExt cx="0" cy="0"/>
        </a:xfrm>
      </p:grpSpPr>
      <p:cxnSp>
        <p:nvCxnSpPr>
          <p:cNvPr name="Connector 2" id="2"/>
          <p:cNvCxnSpPr/>
          <p:nvPr/>
        </p:nvCxnSpPr>
        <p:spPr>
          <a:xfrm rot="-4297" flipH="false" flipV="false">
            <a:off x="1016004" y="552450"/>
            <a:ext cx="10160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3" id="3"/>
          <p:cNvSpPr/>
          <p:nvPr/>
        </p:nvSpPr>
        <p:spPr>
          <a:xfrm rot="0" flipH="false" flipV="false">
            <a:off x="1016000" y="330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787878"/>
                </a:solidFill>
                <a:latin typeface="Noto Serif SC"/>
                <a:ea typeface="Noto Serif SC"/>
                <a:cs typeface="Noto Serif SC"/>
                <a:sym typeface="Noto Serif SC"/>
              </a:rPr>
              <a:t>05　问题分析与后续计划</a:t>
            </a:r>
            <a:endParaRPr lang="en-US" sz="1100"/>
          </a:p>
        </p:txBody>
      </p:sp>
      <p:sp>
        <p:nvSpPr>
          <p:cNvPr name="AutoShape 4" id="4"/>
          <p:cNvSpPr/>
          <p:nvPr/>
        </p:nvSpPr>
        <p:spPr>
          <a:xfrm rot="0" flipH="false" flipV="false">
            <a:off x="1016000" y="762000"/>
            <a:ext cx="965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11111"/>
                </a:solidFill>
                <a:latin typeface="Noto Serif SC"/>
                <a:ea typeface="Noto Serif SC"/>
                <a:cs typeface="Noto Serif SC"/>
                <a:sym typeface="Noto Serif SC"/>
              </a:rPr>
              <a:t>当前存在的问题与不足</a:t>
            </a:r>
            <a:endParaRPr lang="en-US" sz="1100"/>
          </a:p>
        </p:txBody>
      </p:sp>
      <p:cxnSp>
        <p:nvCxnSpPr>
          <p:cNvPr name="Connector 5" id="5"/>
          <p:cNvCxnSpPr/>
          <p:nvPr/>
        </p:nvCxnSpPr>
        <p:spPr>
          <a:xfrm rot="-57290" flipH="false" flipV="false">
            <a:off x="1016053" y="1416050"/>
            <a:ext cx="7620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none" w="lg" len="lg"/>
          </a:ln>
        </p:spPr>
      </p:cxnSp>
      <p:sp>
        <p:nvSpPr>
          <p:cNvPr name="AutoShape 6" id="6"/>
          <p:cNvSpPr/>
          <p:nvPr/>
        </p:nvSpPr>
        <p:spPr>
          <a:xfrm rot="0" flipH="false" flipV="false">
            <a:off x="1016000" y="1854200"/>
            <a:ext cx="4572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4C7A5A"/>
                </a:solidFill>
                <a:latin typeface="Noto Serif SC"/>
                <a:ea typeface="Noto Serif SC"/>
                <a:cs typeface="Noto Serif SC"/>
                <a:sym typeface="Noto Serif SC"/>
              </a:rPr>
              <a:t>已初步验证</a:t>
            </a:r>
            <a:endParaRPr lang="en-US" sz="1100"/>
          </a:p>
        </p:txBody>
      </p:sp>
      <p:sp>
        <p:nvSpPr>
          <p:cNvPr name="AutoShape 7" id="7"/>
          <p:cNvSpPr/>
          <p:nvPr/>
        </p:nvSpPr>
        <p:spPr>
          <a:xfrm rot="0" flipH="false" flipV="false">
            <a:off x="1016000" y="2362200"/>
            <a:ext cx="4572000" cy="279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66666"/>
              </a:lnSpc>
              <a:defRPr/>
            </a:pPr>
            <a:r>
              <a:rPr lang="en-US" b="false" i="false" strike="noStrike" u="none" sz="1300">
                <a:solidFill>
                  <a:srgbClr val="383838"/>
                </a:solidFill>
                <a:latin typeface="Noto Serif SC"/>
                <a:ea typeface="Noto Serif SC"/>
                <a:cs typeface="Noto Serif SC"/>
                <a:sym typeface="Noto Serif SC"/>
              </a:rPr>
              <a:t>· 数据集采集与模型训练流程已跑通</a:t>
            </a:r>
            <a:endParaRPr lang="en-US" sz="1100"/>
          </a:p>
          <a:p>
            <a:pPr algn="l" marL="0" indent="0">
              <a:lnSpc>
                <a:spcPct val="166666"/>
              </a:lnSpc>
            </a:pPr>
            <a:r>
              <a:rPr lang="en-US" b="false" i="false" strike="noStrike" u="none" sz="1300">
                <a:solidFill>
                  <a:srgbClr val="383838"/>
                </a:solidFill>
                <a:latin typeface="Noto Serif SC"/>
                <a:ea typeface="Noto Serif SC"/>
                <a:cs typeface="Noto Serif SC"/>
                <a:sym typeface="Noto Serif SC"/>
              </a:rPr>
              <a:t>· 改进路径规划算法仿真对比有效</a:t>
            </a:r>
          </a:p>
          <a:p>
            <a:pPr algn="l" marL="0" indent="0">
              <a:lnSpc>
                <a:spcPct val="166666"/>
              </a:lnSpc>
            </a:pPr>
            <a:r>
              <a:rPr lang="en-US" b="false" i="false" strike="noStrike" u="none" sz="1300">
                <a:solidFill>
                  <a:srgbClr val="383838"/>
                </a:solidFill>
                <a:latin typeface="Noto Serif SC"/>
                <a:ea typeface="Noto Serif SC"/>
                <a:cs typeface="Noto Serif SC"/>
                <a:sym typeface="Noto Serif SC"/>
              </a:rPr>
              <a:t>· 感知模块与规划模块接口已打通</a:t>
            </a:r>
          </a:p>
          <a:p>
            <a:pPr algn="l" marL="0" indent="0">
              <a:lnSpc>
                <a:spcPct val="166666"/>
              </a:lnSpc>
            </a:pPr>
            <a:r>
              <a:rPr lang="en-US" b="false" i="false" strike="noStrike" u="none" sz="1300">
                <a:solidFill>
                  <a:srgbClr val="383838"/>
                </a:solidFill>
                <a:latin typeface="Noto Serif SC"/>
                <a:ea typeface="Noto Serif SC"/>
                <a:cs typeface="Noto Serif SC"/>
                <a:sym typeface="Noto Serif SC"/>
              </a:rPr>
              <a:t>· 分拣任务主流程闭环可复现</a:t>
            </a:r>
          </a:p>
        </p:txBody>
      </p:sp>
      <p:sp>
        <p:nvSpPr>
          <p:cNvPr name="AutoShape 8" id="8"/>
          <p:cNvSpPr/>
          <p:nvPr/>
        </p:nvSpPr>
        <p:spPr>
          <a:xfrm rot="0" flipH="false" flipV="false">
            <a:off x="5969000" y="1905000"/>
            <a:ext cx="25400" cy="4064000"/>
          </a:xfrm>
          <a:prstGeom prst="roundRect">
            <a:avLst>
              <a:gd name="adj" fmla="val 0"/>
            </a:avLst>
          </a:prstGeom>
          <a:solidFill>
            <a:srgbClr val="002FA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350000" y="1854200"/>
            <a:ext cx="4826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B43C3C"/>
                </a:solidFill>
                <a:latin typeface="Noto Serif SC"/>
                <a:ea typeface="Noto Serif SC"/>
                <a:cs typeface="Noto Serif SC"/>
                <a:sym typeface="Noto Serif SC"/>
              </a:rPr>
              <a:t>尚未解决 / 待完善</a:t>
            </a:r>
            <a:endParaRPr lang="en-US" sz="1100"/>
          </a:p>
        </p:txBody>
      </p:sp>
      <p:sp>
        <p:nvSpPr>
          <p:cNvPr name="AutoShape 10" id="10"/>
          <p:cNvSpPr/>
          <p:nvPr/>
        </p:nvSpPr>
        <p:spPr>
          <a:xfrm rot="0" flipH="false" flipV="false">
            <a:off x="6350000" y="2362200"/>
            <a:ext cx="4826000" cy="330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8333"/>
              </a:lnSpc>
              <a:defRPr/>
            </a:pPr>
            <a:r>
              <a:rPr lang="en-US" b="false" i="false" strike="noStrike" u="none" sz="1300">
                <a:solidFill>
                  <a:srgbClr val="383838"/>
                </a:solidFill>
                <a:latin typeface="Noto Serif SC"/>
                <a:ea typeface="Noto Serif SC"/>
                <a:cs typeface="Noto Serif SC"/>
                <a:sym typeface="Noto Serif SC"/>
              </a:rPr>
              <a:t>· 复杂光照、强遮挡下识别鲁棒性不足</a:t>
            </a:r>
            <a:endParaRPr lang="en-US" sz="1100"/>
          </a:p>
          <a:p>
            <a:pPr algn="l" marL="0" indent="0">
              <a:lnSpc>
                <a:spcPct val="158333"/>
              </a:lnSpc>
            </a:pPr>
            <a:r>
              <a:rPr lang="en-US" b="false" i="false" strike="noStrike" u="none" sz="1300">
                <a:solidFill>
                  <a:srgbClr val="383838"/>
                </a:solidFill>
                <a:latin typeface="Noto Serif SC"/>
                <a:ea typeface="Noto Serif SC"/>
                <a:cs typeface="Noto Serif SC"/>
                <a:sym typeface="Noto Serif SC"/>
              </a:rPr>
              <a:t>· 动态障碍下在线重规划实时性待提升</a:t>
            </a:r>
          </a:p>
          <a:p>
            <a:pPr algn="l" marL="0" indent="0">
              <a:lnSpc>
                <a:spcPct val="158333"/>
              </a:lnSpc>
            </a:pPr>
            <a:r>
              <a:rPr lang="en-US" b="false" i="false" strike="noStrike" u="none" sz="1300">
                <a:solidFill>
                  <a:srgbClr val="383838"/>
                </a:solidFill>
                <a:latin typeface="Noto Serif SC"/>
                <a:ea typeface="Noto Serif SC"/>
                <a:cs typeface="Noto Serif SC"/>
                <a:sym typeface="Noto Serif SC"/>
              </a:rPr>
              <a:t>· 尚未在真实机械臂上完成闭环验证</a:t>
            </a:r>
          </a:p>
          <a:p>
            <a:pPr algn="l" marL="0" indent="0">
              <a:lnSpc>
                <a:spcPct val="158333"/>
              </a:lnSpc>
            </a:pPr>
            <a:r>
              <a:rPr lang="en-US" b="false" i="false" strike="noStrike" u="none" sz="1300">
                <a:solidFill>
                  <a:srgbClr val="383838"/>
                </a:solidFill>
                <a:latin typeface="Noto Serif SC"/>
                <a:ea typeface="Noto Serif SC"/>
                <a:cs typeface="Noto Serif SC"/>
                <a:sym typeface="Noto Serif SC"/>
              </a:rPr>
              <a:t>· 多工件连续分拣的任务调度研究不足</a:t>
            </a:r>
          </a:p>
        </p:txBody>
      </p:sp>
      <p:cxnSp>
        <p:nvCxnSpPr>
          <p:cNvPr name="Connector 11" id="11"/>
          <p:cNvCxnSpPr/>
          <p:nvPr/>
        </p:nvCxnSpPr>
        <p:spPr>
          <a:xfrm rot="-4297" flipH="false" flipV="false">
            <a:off x="1016004" y="6216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12" id="12"/>
          <p:cNvSpPr/>
          <p:nvPr/>
        </p:nvSpPr>
        <p:spPr>
          <a:xfrm rot="0" flipH="false" flipV="false">
            <a:off x="1016000" y="6324600"/>
            <a:ext cx="635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900">
                <a:solidFill>
                  <a:srgbClr val="969696"/>
                </a:solidFill>
                <a:latin typeface="Noto Serif SC"/>
                <a:ea typeface="Noto Serif SC"/>
                <a:cs typeface="Noto Serif SC"/>
                <a:sym typeface="Noto Serif SC"/>
              </a:rPr>
              <a:t>基于深度学习和改进路径规划的机械臂分拣系统研究</a:t>
            </a:r>
            <a:endParaRPr lang="en-US" sz="1100"/>
          </a:p>
        </p:txBody>
      </p:sp>
      <p:sp>
        <p:nvSpPr>
          <p:cNvPr name="AutoShape 13" id="13"/>
          <p:cNvSpPr/>
          <p:nvPr/>
        </p:nvSpPr>
        <p:spPr>
          <a:xfrm rot="0" flipH="false" flipV="false">
            <a:off x="10160000" y="6324600"/>
            <a:ext cx="1016000" cy="2286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900">
                <a:solidFill>
                  <a:srgbClr val="969696"/>
                </a:solidFill>
                <a:latin typeface="Noto Serif SC"/>
                <a:ea typeface="Noto Serif SC"/>
                <a:cs typeface="Noto Serif SC"/>
                <a:sym typeface="Noto Serif SC"/>
              </a:rPr>
              <a:t>10</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5F3EE">
            <a:alpha val="100000"/>
          </a:srgbClr>
        </a:solidFill>
      </p:bgPr>
    </p:bg>
    <p:spTree>
      <p:nvGrpSpPr>
        <p:cNvPr id="1" name=""/>
        <p:cNvGrpSpPr/>
        <p:nvPr/>
      </p:nvGrpSpPr>
      <p:grpSpPr>
        <a:xfrm>
          <a:off x="0" y="0"/>
          <a:ext cx="0" cy="0"/>
          <a:chOff x="0" y="0"/>
          <a:chExt cx="0" cy="0"/>
        </a:xfrm>
      </p:grpSpPr>
      <p:cxnSp>
        <p:nvCxnSpPr>
          <p:cNvPr name="Connector 2" id="2"/>
          <p:cNvCxnSpPr/>
          <p:nvPr/>
        </p:nvCxnSpPr>
        <p:spPr>
          <a:xfrm rot="-4297" flipH="false" flipV="false">
            <a:off x="1016004" y="552450"/>
            <a:ext cx="10160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3" id="3"/>
          <p:cNvSpPr/>
          <p:nvPr/>
        </p:nvSpPr>
        <p:spPr>
          <a:xfrm rot="0" flipH="false" flipV="false">
            <a:off x="1016000" y="330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787878"/>
                </a:solidFill>
                <a:latin typeface="Noto Serif SC"/>
                <a:ea typeface="Noto Serif SC"/>
                <a:cs typeface="Noto Serif SC"/>
                <a:sym typeface="Noto Serif SC"/>
              </a:rPr>
              <a:t>05　问题分析与后续计划</a:t>
            </a:r>
            <a:endParaRPr lang="en-US" sz="1100"/>
          </a:p>
        </p:txBody>
      </p:sp>
      <p:sp>
        <p:nvSpPr>
          <p:cNvPr name="AutoShape 4" id="4"/>
          <p:cNvSpPr/>
          <p:nvPr/>
        </p:nvSpPr>
        <p:spPr>
          <a:xfrm rot="0" flipH="false" flipV="false">
            <a:off x="1016000" y="762000"/>
            <a:ext cx="965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11111"/>
                </a:solidFill>
                <a:latin typeface="Noto Serif SC"/>
                <a:ea typeface="Noto Serif SC"/>
                <a:cs typeface="Noto Serif SC"/>
                <a:sym typeface="Noto Serif SC"/>
              </a:rPr>
              <a:t>后续工作计划</a:t>
            </a:r>
            <a:endParaRPr lang="en-US" sz="1100"/>
          </a:p>
        </p:txBody>
      </p:sp>
      <p:cxnSp>
        <p:nvCxnSpPr>
          <p:cNvPr name="Connector 5" id="5"/>
          <p:cNvCxnSpPr/>
          <p:nvPr/>
        </p:nvCxnSpPr>
        <p:spPr>
          <a:xfrm rot="-57290" flipH="false" flipV="false">
            <a:off x="1016053" y="1416050"/>
            <a:ext cx="7620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none" w="lg" len="lg"/>
          </a:ln>
        </p:spPr>
      </p:cxnSp>
      <p:sp>
        <p:nvSpPr>
          <p:cNvPr name="AutoShape 6" id="6"/>
          <p:cNvSpPr/>
          <p:nvPr/>
        </p:nvSpPr>
        <p:spPr>
          <a:xfrm rot="0" flipH="false" flipV="false">
            <a:off x="2540000" y="1778000"/>
            <a:ext cx="1016000" cy="228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000">
                <a:solidFill>
                  <a:srgbClr val="787878"/>
                </a:solidFill>
                <a:latin typeface="Noto Serif SC"/>
                <a:ea typeface="Noto Serif SC"/>
                <a:cs typeface="Noto Serif SC"/>
                <a:sym typeface="Noto Serif SC"/>
              </a:rPr>
              <a:t>2026.09</a:t>
            </a:r>
            <a:endParaRPr lang="en-US" sz="1100"/>
          </a:p>
        </p:txBody>
      </p:sp>
      <p:sp>
        <p:nvSpPr>
          <p:cNvPr name="AutoShape 7" id="7"/>
          <p:cNvSpPr/>
          <p:nvPr/>
        </p:nvSpPr>
        <p:spPr>
          <a:xfrm rot="0" flipH="false" flipV="false">
            <a:off x="4318000" y="1778000"/>
            <a:ext cx="1016000" cy="228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000">
                <a:solidFill>
                  <a:srgbClr val="787878"/>
                </a:solidFill>
                <a:latin typeface="Noto Serif SC"/>
                <a:ea typeface="Noto Serif SC"/>
                <a:cs typeface="Noto Serif SC"/>
                <a:sym typeface="Noto Serif SC"/>
              </a:rPr>
              <a:t>2026.11</a:t>
            </a:r>
            <a:endParaRPr lang="en-US" sz="1100"/>
          </a:p>
        </p:txBody>
      </p:sp>
      <p:sp>
        <p:nvSpPr>
          <p:cNvPr name="AutoShape 8" id="8"/>
          <p:cNvSpPr/>
          <p:nvPr/>
        </p:nvSpPr>
        <p:spPr>
          <a:xfrm rot="0" flipH="false" flipV="false">
            <a:off x="6096000" y="1778000"/>
            <a:ext cx="1016000" cy="228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000">
                <a:solidFill>
                  <a:srgbClr val="787878"/>
                </a:solidFill>
                <a:latin typeface="Noto Serif SC"/>
                <a:ea typeface="Noto Serif SC"/>
                <a:cs typeface="Noto Serif SC"/>
                <a:sym typeface="Noto Serif SC"/>
              </a:rPr>
              <a:t>2027.01</a:t>
            </a:r>
            <a:endParaRPr lang="en-US" sz="1100"/>
          </a:p>
        </p:txBody>
      </p:sp>
      <p:sp>
        <p:nvSpPr>
          <p:cNvPr name="AutoShape 9" id="9"/>
          <p:cNvSpPr/>
          <p:nvPr/>
        </p:nvSpPr>
        <p:spPr>
          <a:xfrm rot="0" flipH="false" flipV="false">
            <a:off x="7874000" y="1778000"/>
            <a:ext cx="1016000" cy="228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000">
                <a:solidFill>
                  <a:srgbClr val="787878"/>
                </a:solidFill>
                <a:latin typeface="Noto Serif SC"/>
                <a:ea typeface="Noto Serif SC"/>
                <a:cs typeface="Noto Serif SC"/>
                <a:sym typeface="Noto Serif SC"/>
              </a:rPr>
              <a:t>2027.03</a:t>
            </a:r>
            <a:endParaRPr lang="en-US" sz="1100"/>
          </a:p>
        </p:txBody>
      </p:sp>
      <p:sp>
        <p:nvSpPr>
          <p:cNvPr name="AutoShape 10" id="10"/>
          <p:cNvSpPr/>
          <p:nvPr/>
        </p:nvSpPr>
        <p:spPr>
          <a:xfrm rot="0" flipH="false" flipV="false">
            <a:off x="9652000" y="1778000"/>
            <a:ext cx="1016000" cy="228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000">
                <a:solidFill>
                  <a:srgbClr val="787878"/>
                </a:solidFill>
                <a:latin typeface="Noto Serif SC"/>
                <a:ea typeface="Noto Serif SC"/>
                <a:cs typeface="Noto Serif SC"/>
                <a:sym typeface="Noto Serif SC"/>
              </a:rPr>
              <a:t>2027.04</a:t>
            </a:r>
            <a:endParaRPr lang="en-US" sz="1100"/>
          </a:p>
        </p:txBody>
      </p:sp>
      <p:cxnSp>
        <p:nvCxnSpPr>
          <p:cNvPr name="Connector 11" id="11"/>
          <p:cNvCxnSpPr/>
          <p:nvPr/>
        </p:nvCxnSpPr>
        <p:spPr>
          <a:xfrm rot="-5371" flipH="false" flipV="false">
            <a:off x="2540005" y="2076450"/>
            <a:ext cx="8128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12" id="12"/>
          <p:cNvSpPr/>
          <p:nvPr/>
        </p:nvSpPr>
        <p:spPr>
          <a:xfrm rot="0" flipH="false" flipV="false">
            <a:off x="1016000" y="2362200"/>
            <a:ext cx="139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111111"/>
                </a:solidFill>
                <a:latin typeface="Noto Serif SC"/>
                <a:ea typeface="Noto Serif SC"/>
                <a:cs typeface="Noto Serif SC"/>
                <a:sym typeface="Noto Serif SC"/>
              </a:rPr>
              <a:t>视觉模型优化</a:t>
            </a:r>
            <a:endParaRPr lang="en-US" sz="1100"/>
          </a:p>
        </p:txBody>
      </p:sp>
      <p:sp>
        <p:nvSpPr>
          <p:cNvPr name="AutoShape 13" id="13"/>
          <p:cNvSpPr/>
          <p:nvPr/>
        </p:nvSpPr>
        <p:spPr>
          <a:xfrm rot="0" flipH="false" flipV="false">
            <a:off x="2540000" y="2362200"/>
            <a:ext cx="3556000" cy="279400"/>
          </a:xfrm>
          <a:prstGeom prst="roundRect">
            <a:avLst>
              <a:gd name="adj" fmla="val 13636"/>
            </a:avLst>
          </a:prstGeom>
          <a:solidFill>
            <a:srgbClr val="002FA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3124200"/>
            <a:ext cx="139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111111"/>
                </a:solidFill>
                <a:latin typeface="Noto Serif SC"/>
                <a:ea typeface="Noto Serif SC"/>
                <a:cs typeface="Noto Serif SC"/>
                <a:sym typeface="Noto Serif SC"/>
              </a:rPr>
              <a:t>动态重规划</a:t>
            </a:r>
            <a:endParaRPr lang="en-US" sz="1100"/>
          </a:p>
        </p:txBody>
      </p:sp>
      <p:sp>
        <p:nvSpPr>
          <p:cNvPr name="AutoShape 15" id="15"/>
          <p:cNvSpPr/>
          <p:nvPr/>
        </p:nvSpPr>
        <p:spPr>
          <a:xfrm rot="0" flipH="false" flipV="false">
            <a:off x="3429000" y="3124200"/>
            <a:ext cx="3556000" cy="279400"/>
          </a:xfrm>
          <a:prstGeom prst="roundRect">
            <a:avLst>
              <a:gd name="adj" fmla="val 13636"/>
            </a:avLst>
          </a:prstGeom>
          <a:solidFill>
            <a:srgbClr val="002FA7">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1016000" y="3886200"/>
            <a:ext cx="139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111111"/>
                </a:solidFill>
                <a:latin typeface="Noto Serif SC"/>
                <a:ea typeface="Noto Serif SC"/>
                <a:cs typeface="Noto Serif SC"/>
                <a:sym typeface="Noto Serif SC"/>
              </a:rPr>
              <a:t>系统集成与实物</a:t>
            </a:r>
            <a:endParaRPr lang="en-US" sz="1100"/>
          </a:p>
        </p:txBody>
      </p:sp>
      <p:sp>
        <p:nvSpPr>
          <p:cNvPr name="AutoShape 17" id="17"/>
          <p:cNvSpPr/>
          <p:nvPr/>
        </p:nvSpPr>
        <p:spPr>
          <a:xfrm rot="0" flipH="false" flipV="false">
            <a:off x="5207000" y="3886200"/>
            <a:ext cx="3556000" cy="279400"/>
          </a:xfrm>
          <a:prstGeom prst="roundRect">
            <a:avLst>
              <a:gd name="adj" fmla="val 13636"/>
            </a:avLst>
          </a:prstGeom>
          <a:solidFill>
            <a:srgbClr val="002FA7">
              <a:alpha val="5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1016000" y="4648200"/>
            <a:ext cx="139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111111"/>
                </a:solidFill>
                <a:latin typeface="Noto Serif SC"/>
                <a:ea typeface="Noto Serif SC"/>
                <a:cs typeface="Noto Serif SC"/>
                <a:sym typeface="Noto Serif SC"/>
              </a:rPr>
              <a:t>论文撰写与答辩</a:t>
            </a:r>
            <a:endParaRPr lang="en-US" sz="1100"/>
          </a:p>
        </p:txBody>
      </p:sp>
      <p:sp>
        <p:nvSpPr>
          <p:cNvPr name="AutoShape 19" id="19"/>
          <p:cNvSpPr/>
          <p:nvPr/>
        </p:nvSpPr>
        <p:spPr>
          <a:xfrm rot="0" flipH="false" flipV="false">
            <a:off x="6096000" y="4648200"/>
            <a:ext cx="4572000" cy="279400"/>
          </a:xfrm>
          <a:prstGeom prst="roundRect">
            <a:avLst>
              <a:gd name="adj" fmla="val 13636"/>
            </a:avLst>
          </a:prstGeom>
          <a:solidFill>
            <a:srgbClr val="002FA7">
              <a:alpha val="35000"/>
            </a:srgbClr>
          </a:solidFill>
          <a:ln w="25400" cmpd="sng" cap="flat">
            <a:noFill/>
            <a:prstDash val="solid"/>
            <a:round/>
          </a:ln>
        </p:spPr>
        <p:txBody>
          <a:bodyPr anchor="ctr" rtlCol="false" vert="horz" wrap="square" lIns="63500" rIns="63500" tIns="63500" bIns="63500"/>
          <a:lstStyle/>
          <a:p>
            <a:pPr algn="ctr">
              <a:defRPr/>
            </a:pPr>
            <a:endParaRPr/>
          </a:p>
        </p:txBody>
      </p:sp>
      <p:cxnSp>
        <p:nvCxnSpPr>
          <p:cNvPr name="Connector 20" id="20"/>
          <p:cNvCxnSpPr/>
          <p:nvPr/>
        </p:nvCxnSpPr>
        <p:spPr>
          <a:xfrm rot="-4297" flipH="false" flipV="false">
            <a:off x="1016004" y="5708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21" id="21"/>
          <p:cNvSpPr/>
          <p:nvPr/>
        </p:nvSpPr>
        <p:spPr>
          <a:xfrm rot="0" flipH="false" flipV="false">
            <a:off x="1016000" y="5842000"/>
            <a:ext cx="1016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002FA7"/>
                </a:solidFill>
                <a:latin typeface="Noto Serif SC"/>
                <a:ea typeface="Noto Serif SC"/>
                <a:cs typeface="Noto Serif SC"/>
                <a:sym typeface="Noto Serif SC"/>
              </a:rPr>
              <a:t>近期重点：</a:t>
            </a:r>
            <a:r>
              <a:rPr lang="en-US" b="false" i="false" strike="noStrike" u="none" sz="1200">
                <a:solidFill>
                  <a:srgbClr val="383838"/>
                </a:solidFill>
                <a:latin typeface="Noto Serif SC"/>
                <a:ea typeface="Noto Serif SC"/>
                <a:cs typeface="Noto Serif SC"/>
                <a:sym typeface="Noto Serif SC"/>
              </a:rPr>
              <a:t>9–11 月完成视觉模型鲁棒性提升与动态重规划算法，年底前进入实物集成。</a:t>
            </a:r>
            <a:endParaRPr lang="en-US" sz="1100"/>
          </a:p>
        </p:txBody>
      </p:sp>
      <p:cxnSp>
        <p:nvCxnSpPr>
          <p:cNvPr name="Connector 22" id="22"/>
          <p:cNvCxnSpPr/>
          <p:nvPr/>
        </p:nvCxnSpPr>
        <p:spPr>
          <a:xfrm rot="-4297" flipH="false" flipV="false">
            <a:off x="1016004" y="6216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23" id="23"/>
          <p:cNvSpPr/>
          <p:nvPr/>
        </p:nvSpPr>
        <p:spPr>
          <a:xfrm rot="0" flipH="false" flipV="false">
            <a:off x="1016000" y="6324600"/>
            <a:ext cx="635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900">
                <a:solidFill>
                  <a:srgbClr val="969696"/>
                </a:solidFill>
                <a:latin typeface="Noto Serif SC"/>
                <a:ea typeface="Noto Serif SC"/>
                <a:cs typeface="Noto Serif SC"/>
                <a:sym typeface="Noto Serif SC"/>
              </a:rPr>
              <a:t>基于深度学习和改进路径规划的机械臂分拣系统研究</a:t>
            </a:r>
            <a:endParaRPr lang="en-US" sz="1100"/>
          </a:p>
        </p:txBody>
      </p:sp>
      <p:sp>
        <p:nvSpPr>
          <p:cNvPr name="AutoShape 24" id="24"/>
          <p:cNvSpPr/>
          <p:nvPr/>
        </p:nvSpPr>
        <p:spPr>
          <a:xfrm rot="0" flipH="false" flipV="false">
            <a:off x="10160000" y="6324600"/>
            <a:ext cx="1016000" cy="2286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900">
                <a:solidFill>
                  <a:srgbClr val="969696"/>
                </a:solidFill>
                <a:latin typeface="Noto Serif SC"/>
                <a:ea typeface="Noto Serif SC"/>
                <a:cs typeface="Noto Serif SC"/>
                <a:sym typeface="Noto Serif SC"/>
              </a:rPr>
              <a:t>11</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5F3EE">
            <a:alpha val="100000"/>
          </a:srgbClr>
        </a:solidFill>
      </p:bgPr>
    </p:bg>
    <p:spTree>
      <p:nvGrpSpPr>
        <p:cNvPr id="1" name=""/>
        <p:cNvGrpSpPr/>
        <p:nvPr/>
      </p:nvGrpSpPr>
      <p:grpSpPr>
        <a:xfrm>
          <a:off x="0" y="0"/>
          <a:ext cx="0" cy="0"/>
          <a:chOff x="0" y="0"/>
          <a:chExt cx="0" cy="0"/>
        </a:xfrm>
      </p:grpSpPr>
      <p:cxnSp>
        <p:nvCxnSpPr>
          <p:cNvPr name="Connector 2" id="2"/>
          <p:cNvCxnSpPr/>
          <p:nvPr/>
        </p:nvCxnSpPr>
        <p:spPr>
          <a:xfrm rot="-4297" flipH="false" flipV="false">
            <a:off x="1016004" y="552450"/>
            <a:ext cx="10160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3" id="3"/>
          <p:cNvSpPr/>
          <p:nvPr/>
        </p:nvSpPr>
        <p:spPr>
          <a:xfrm rot="0" flipH="false" flipV="false">
            <a:off x="1016000" y="330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787878"/>
                </a:solidFill>
                <a:latin typeface="Noto Serif SC"/>
                <a:ea typeface="Noto Serif SC"/>
                <a:cs typeface="Noto Serif SC"/>
                <a:sym typeface="Noto Serif SC"/>
              </a:rPr>
              <a:t>05　问题分析与后续计划</a:t>
            </a:r>
            <a:endParaRPr lang="en-US" sz="1100"/>
          </a:p>
        </p:txBody>
      </p:sp>
      <p:sp>
        <p:nvSpPr>
          <p:cNvPr name="AutoShape 4" id="4"/>
          <p:cNvSpPr/>
          <p:nvPr/>
        </p:nvSpPr>
        <p:spPr>
          <a:xfrm rot="0" flipH="false" flipV="false">
            <a:off x="1016000" y="762000"/>
            <a:ext cx="965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11111"/>
                </a:solidFill>
                <a:latin typeface="Noto Serif SC"/>
                <a:ea typeface="Noto Serif SC"/>
                <a:cs typeface="Noto Serif SC"/>
                <a:sym typeface="Noto Serif SC"/>
              </a:rPr>
              <a:t>预期研究成果与创新点</a:t>
            </a:r>
            <a:endParaRPr lang="en-US" sz="1100"/>
          </a:p>
        </p:txBody>
      </p:sp>
      <p:cxnSp>
        <p:nvCxnSpPr>
          <p:cNvPr name="Connector 5" id="5"/>
          <p:cNvCxnSpPr/>
          <p:nvPr/>
        </p:nvCxnSpPr>
        <p:spPr>
          <a:xfrm rot="-57290" flipH="false" flipV="false">
            <a:off x="1016053" y="1416050"/>
            <a:ext cx="7620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none" w="lg" len="lg"/>
          </a:ln>
        </p:spPr>
      </p:cxnSp>
      <p:sp>
        <p:nvSpPr>
          <p:cNvPr name="AutoShape 6" id="6"/>
          <p:cNvSpPr/>
          <p:nvPr/>
        </p:nvSpPr>
        <p:spPr>
          <a:xfrm rot="0" flipH="false" flipV="false">
            <a:off x="1016000" y="1854200"/>
            <a:ext cx="4572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2FA7"/>
                </a:solidFill>
                <a:latin typeface="Noto Serif SC"/>
                <a:ea typeface="Noto Serif SC"/>
                <a:cs typeface="Noto Serif SC"/>
                <a:sym typeface="Noto Serif SC"/>
              </a:rPr>
              <a:t>预期成果</a:t>
            </a:r>
            <a:endParaRPr lang="en-US" sz="1100"/>
          </a:p>
        </p:txBody>
      </p:sp>
      <p:sp>
        <p:nvSpPr>
          <p:cNvPr name="AutoShape 7" id="7"/>
          <p:cNvSpPr/>
          <p:nvPr/>
        </p:nvSpPr>
        <p:spPr>
          <a:xfrm rot="0" flipH="false" flipV="false">
            <a:off x="1016000" y="2362200"/>
            <a:ext cx="4572000" cy="304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66666"/>
              </a:lnSpc>
              <a:defRPr/>
            </a:pPr>
            <a:r>
              <a:rPr lang="en-US" b="false" i="false" strike="noStrike" u="none" sz="1300">
                <a:solidFill>
                  <a:srgbClr val="383838"/>
                </a:solidFill>
                <a:latin typeface="Noto Serif SC"/>
                <a:ea typeface="Noto Serif SC"/>
                <a:cs typeface="Noto Serif SC"/>
                <a:sym typeface="Noto Serif SC"/>
              </a:rPr>
              <a:t>· 完成硕士学位论文一篇</a:t>
            </a:r>
            <a:endParaRPr lang="en-US" sz="1100"/>
          </a:p>
          <a:p>
            <a:pPr algn="l" marL="0" indent="0">
              <a:lnSpc>
                <a:spcPct val="166666"/>
              </a:lnSpc>
            </a:pPr>
            <a:r>
              <a:rPr lang="en-US" b="false" i="false" strike="noStrike" u="none" sz="1300">
                <a:solidFill>
                  <a:srgbClr val="383838"/>
                </a:solidFill>
                <a:latin typeface="Noto Serif SC"/>
                <a:ea typeface="Noto Serif SC"/>
                <a:cs typeface="Noto Serif SC"/>
                <a:sym typeface="Noto Serif SC"/>
              </a:rPr>
              <a:t>· 形成一套机械臂智能分拣系统（仿真 + 实物）</a:t>
            </a:r>
          </a:p>
          <a:p>
            <a:pPr algn="l" marL="0" indent="0">
              <a:lnSpc>
                <a:spcPct val="166666"/>
              </a:lnSpc>
            </a:pPr>
            <a:r>
              <a:rPr lang="en-US" b="false" i="false" strike="noStrike" u="none" sz="1300">
                <a:solidFill>
                  <a:srgbClr val="383838"/>
                </a:solidFill>
                <a:latin typeface="Noto Serif SC"/>
                <a:ea typeface="Noto Serif SC"/>
                <a:cs typeface="Noto Serif SC"/>
                <a:sym typeface="Noto Serif SC"/>
              </a:rPr>
              <a:t>· 拟投稿学术论文 1–2 篇</a:t>
            </a:r>
          </a:p>
          <a:p>
            <a:pPr algn="l" marL="0" indent="0">
              <a:lnSpc>
                <a:spcPct val="166666"/>
              </a:lnSpc>
            </a:pPr>
            <a:r>
              <a:rPr lang="en-US" b="false" i="false" strike="noStrike" u="none" sz="1300">
                <a:solidFill>
                  <a:srgbClr val="383838"/>
                </a:solidFill>
                <a:latin typeface="Noto Serif SC"/>
                <a:ea typeface="Noto Serif SC"/>
                <a:cs typeface="Noto Serif SC"/>
                <a:sym typeface="Noto Serif SC"/>
              </a:rPr>
              <a:t>· 申请软件著作权 / 发明专利（视进展）</a:t>
            </a:r>
          </a:p>
        </p:txBody>
      </p:sp>
      <p:cxnSp>
        <p:nvCxnSpPr>
          <p:cNvPr name="Connector 8" id="8"/>
          <p:cNvCxnSpPr/>
          <p:nvPr/>
        </p:nvCxnSpPr>
        <p:spPr>
          <a:xfrm rot="5387722" flipH="false" flipV="false">
            <a:off x="4318000" y="3676661"/>
            <a:ext cx="3556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9" id="9"/>
          <p:cNvSpPr/>
          <p:nvPr/>
        </p:nvSpPr>
        <p:spPr>
          <a:xfrm rot="0" flipH="false" flipV="false">
            <a:off x="6477000" y="1854200"/>
            <a:ext cx="4699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2FA7"/>
                </a:solidFill>
                <a:latin typeface="Noto Serif SC"/>
                <a:ea typeface="Noto Serif SC"/>
                <a:cs typeface="Noto Serif SC"/>
                <a:sym typeface="Noto Serif SC"/>
              </a:rPr>
              <a:t>主要创新点</a:t>
            </a:r>
            <a:endParaRPr lang="en-US" sz="1100"/>
          </a:p>
        </p:txBody>
      </p:sp>
      <p:sp>
        <p:nvSpPr>
          <p:cNvPr name="AutoShape 10" id="10"/>
          <p:cNvSpPr/>
          <p:nvPr/>
        </p:nvSpPr>
        <p:spPr>
          <a:xfrm rot="0" flipH="false" flipV="false">
            <a:off x="6477000" y="2362200"/>
            <a:ext cx="38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02FA7"/>
                </a:solidFill>
                <a:latin typeface="Noto Serif SC"/>
                <a:ea typeface="Noto Serif SC"/>
                <a:cs typeface="Noto Serif SC"/>
                <a:sym typeface="Noto Serif SC"/>
              </a:rPr>
              <a:t>①</a:t>
            </a:r>
            <a:endParaRPr lang="en-US" sz="1100"/>
          </a:p>
        </p:txBody>
      </p:sp>
      <p:sp>
        <p:nvSpPr>
          <p:cNvPr name="AutoShape 11" id="11"/>
          <p:cNvSpPr/>
          <p:nvPr/>
        </p:nvSpPr>
        <p:spPr>
          <a:xfrm rot="0" flipH="false" flipV="false">
            <a:off x="6832600" y="2362200"/>
            <a:ext cx="43434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383838"/>
                </a:solidFill>
                <a:latin typeface="Noto Serif SC"/>
                <a:ea typeface="Noto Serif SC"/>
                <a:cs typeface="Noto Serif SC"/>
                <a:sym typeface="Noto Serif SC"/>
              </a:rPr>
              <a:t>视觉感知与运动规划协同</a:t>
            </a:r>
            <a:r>
              <a:rPr lang="en-US" b="false" i="false" strike="noStrike" u="none" sz="1200">
                <a:solidFill>
                  <a:srgbClr val="383838"/>
                </a:solidFill>
                <a:latin typeface="Noto Serif SC"/>
                <a:ea typeface="Noto Serif SC"/>
                <a:cs typeface="Noto Serif SC"/>
                <a:sym typeface="Noto Serif SC"/>
              </a:rPr>
              <a:t>：面向分拣任务，将视觉置信度反馈融入规划代价，实现感知—决策联合优化。</a:t>
            </a:r>
            <a:endParaRPr lang="en-US" sz="1100"/>
          </a:p>
        </p:txBody>
      </p:sp>
      <p:sp>
        <p:nvSpPr>
          <p:cNvPr name="AutoShape 12" id="12"/>
          <p:cNvSpPr/>
          <p:nvPr/>
        </p:nvSpPr>
        <p:spPr>
          <a:xfrm rot="0" flipH="false" flipV="false">
            <a:off x="6477000" y="3200400"/>
            <a:ext cx="38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02FA7"/>
                </a:solidFill>
                <a:latin typeface="Noto Serif SC"/>
                <a:ea typeface="Noto Serif SC"/>
                <a:cs typeface="Noto Serif SC"/>
                <a:sym typeface="Noto Serif SC"/>
              </a:rPr>
              <a:t>②</a:t>
            </a:r>
            <a:endParaRPr lang="en-US" sz="1100"/>
          </a:p>
        </p:txBody>
      </p:sp>
      <p:sp>
        <p:nvSpPr>
          <p:cNvPr name="AutoShape 13" id="13"/>
          <p:cNvSpPr/>
          <p:nvPr/>
        </p:nvSpPr>
        <p:spPr>
          <a:xfrm rot="0" flipH="false" flipV="false">
            <a:off x="6832600" y="3200400"/>
            <a:ext cx="43434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383838"/>
                </a:solidFill>
                <a:latin typeface="Noto Serif SC"/>
                <a:ea typeface="Noto Serif SC"/>
                <a:cs typeface="Noto Serif SC"/>
                <a:sym typeface="Noto Serif SC"/>
              </a:rPr>
              <a:t>改进采样式路径规划</a:t>
            </a:r>
            <a:r>
              <a:rPr lang="en-US" b="false" i="false" strike="noStrike" u="none" sz="1200">
                <a:solidFill>
                  <a:srgbClr val="383838"/>
                </a:solidFill>
                <a:latin typeface="Noto Serif SC"/>
                <a:ea typeface="Noto Serif SC"/>
                <a:cs typeface="Noto Serif SC"/>
                <a:sym typeface="Noto Serif SC"/>
              </a:rPr>
              <a:t>：目标偏置混合采样 + 综合代价函数 + 路径平滑，兼顾实时性与轨迹质量。</a:t>
            </a:r>
            <a:endParaRPr lang="en-US" sz="1100"/>
          </a:p>
        </p:txBody>
      </p:sp>
      <p:sp>
        <p:nvSpPr>
          <p:cNvPr name="AutoShape 14" id="14"/>
          <p:cNvSpPr/>
          <p:nvPr/>
        </p:nvSpPr>
        <p:spPr>
          <a:xfrm rot="0" flipH="false" flipV="false">
            <a:off x="6477000" y="4038600"/>
            <a:ext cx="38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02FA7"/>
                </a:solidFill>
                <a:latin typeface="Noto Serif SC"/>
                <a:ea typeface="Noto Serif SC"/>
                <a:cs typeface="Noto Serif SC"/>
                <a:sym typeface="Noto Serif SC"/>
              </a:rPr>
              <a:t>③</a:t>
            </a:r>
            <a:endParaRPr lang="en-US" sz="1100"/>
          </a:p>
        </p:txBody>
      </p:sp>
      <p:sp>
        <p:nvSpPr>
          <p:cNvPr name="AutoShape 15" id="15"/>
          <p:cNvSpPr/>
          <p:nvPr/>
        </p:nvSpPr>
        <p:spPr>
          <a:xfrm rot="0" flipH="false" flipV="false">
            <a:off x="6832600" y="4038600"/>
            <a:ext cx="43434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383838"/>
                </a:solidFill>
                <a:latin typeface="Noto Serif SC"/>
                <a:ea typeface="Noto Serif SC"/>
                <a:cs typeface="Noto Serif SC"/>
                <a:sym typeface="Noto Serif SC"/>
              </a:rPr>
              <a:t>闭环实验验证</a:t>
            </a:r>
            <a:r>
              <a:rPr lang="en-US" b="false" i="false" strike="noStrike" u="none" sz="1200">
                <a:solidFill>
                  <a:srgbClr val="383838"/>
                </a:solidFill>
                <a:latin typeface="Noto Serif SC"/>
                <a:ea typeface="Noto Serif SC"/>
                <a:cs typeface="Noto Serif SC"/>
                <a:sym typeface="Noto Serif SC"/>
              </a:rPr>
              <a:t>：在真实机械臂平台完成视觉—规划—执行闭环，验证方法的工程可用性。</a:t>
            </a:r>
            <a:endParaRPr lang="en-US" sz="1100"/>
          </a:p>
        </p:txBody>
      </p:sp>
      <p:cxnSp>
        <p:nvCxnSpPr>
          <p:cNvPr name="Connector 16" id="16"/>
          <p:cNvCxnSpPr/>
          <p:nvPr/>
        </p:nvCxnSpPr>
        <p:spPr>
          <a:xfrm rot="-4297" flipH="false" flipV="false">
            <a:off x="1016004" y="6216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17" id="17"/>
          <p:cNvSpPr/>
          <p:nvPr/>
        </p:nvSpPr>
        <p:spPr>
          <a:xfrm rot="0" flipH="false" flipV="false">
            <a:off x="1016000" y="6324600"/>
            <a:ext cx="635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900">
                <a:solidFill>
                  <a:srgbClr val="969696"/>
                </a:solidFill>
                <a:latin typeface="Noto Serif SC"/>
                <a:ea typeface="Noto Serif SC"/>
                <a:cs typeface="Noto Serif SC"/>
                <a:sym typeface="Noto Serif SC"/>
              </a:rPr>
              <a:t>基于深度学习和改进路径规划的机械臂分拣系统研究</a:t>
            </a:r>
            <a:endParaRPr lang="en-US" sz="1100"/>
          </a:p>
        </p:txBody>
      </p:sp>
      <p:sp>
        <p:nvSpPr>
          <p:cNvPr name="AutoShape 18" id="18"/>
          <p:cNvSpPr/>
          <p:nvPr/>
        </p:nvSpPr>
        <p:spPr>
          <a:xfrm rot="0" flipH="false" flipV="false">
            <a:off x="10160000" y="6324600"/>
            <a:ext cx="1016000" cy="2286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900">
                <a:solidFill>
                  <a:srgbClr val="969696"/>
                </a:solidFill>
                <a:latin typeface="Noto Serif SC"/>
                <a:ea typeface="Noto Serif SC"/>
                <a:cs typeface="Noto Serif SC"/>
                <a:sym typeface="Noto Serif SC"/>
              </a:rPr>
              <a:t>12</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5F3E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76200"/>
          </a:xfrm>
          <a:prstGeom prst="roundRect">
            <a:avLst>
              <a:gd name="adj" fmla="val 0"/>
            </a:avLst>
          </a:prstGeom>
          <a:solidFill>
            <a:srgbClr val="002FA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6781800"/>
            <a:ext cx="12192000" cy="76200"/>
          </a:xfrm>
          <a:prstGeom prst="roundRect">
            <a:avLst>
              <a:gd name="adj" fmla="val 0"/>
            </a:avLst>
          </a:prstGeom>
          <a:solidFill>
            <a:srgbClr val="002FA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524000" y="2667000"/>
            <a:ext cx="9144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000">
                <a:solidFill>
                  <a:srgbClr val="111111"/>
                </a:solidFill>
                <a:latin typeface="Noto Serif SC"/>
                <a:ea typeface="Noto Serif SC"/>
                <a:cs typeface="Noto Serif SC"/>
                <a:sym typeface="Noto Serif SC"/>
              </a:rPr>
              <a:t>恳请各位老师批评指正</a:t>
            </a:r>
            <a:endParaRPr lang="en-US" sz="1100"/>
          </a:p>
        </p:txBody>
      </p:sp>
      <p:cxnSp>
        <p:nvCxnSpPr>
          <p:cNvPr name="Connector 5" id="5"/>
          <p:cNvCxnSpPr/>
          <p:nvPr/>
        </p:nvCxnSpPr>
        <p:spPr>
          <a:xfrm rot="-21485" flipH="false" flipV="false">
            <a:off x="5080020" y="3752850"/>
            <a:ext cx="20320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none" w="lg" len="lg"/>
          </a:ln>
        </p:spPr>
      </p:cxnSp>
      <p:sp>
        <p:nvSpPr>
          <p:cNvPr name="AutoShape 6" id="6"/>
          <p:cNvSpPr/>
          <p:nvPr/>
        </p:nvSpPr>
        <p:spPr>
          <a:xfrm rot="0" flipH="false" flipV="false">
            <a:off x="1524000" y="4013200"/>
            <a:ext cx="9144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5A5A5A"/>
                </a:solidFill>
                <a:latin typeface="Noto Serif SC"/>
                <a:ea typeface="Noto Serif SC"/>
                <a:cs typeface="Noto Serif SC"/>
                <a:sym typeface="Noto Serif SC"/>
              </a:rPr>
              <a:t>THANKS　FOR　YOUR　ATTENTION</a:t>
            </a:r>
            <a:endParaRPr lang="en-US" sz="1100"/>
          </a:p>
        </p:txBody>
      </p:sp>
      <p:pic>
        <p:nvPicPr>
          <p:cNvPr name="Picture 7" id="7"/>
          <p:cNvPicPr>
            <a:picLocks noChangeAspect="true"/>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